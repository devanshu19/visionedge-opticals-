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830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8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100E-4F66-BA71-E012B6643AD6}"/>
              </c:ext>
            </c:extLst>
          </c:dPt>
          <c:dPt>
            <c:idx val="1"/>
            <c:bubble3D val="0"/>
            <c:spPr>
              <a:solidFill>
                <a:srgbClr val="E3EAF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00E-4F66-BA71-E012B6643AD6}"/>
              </c:ext>
            </c:extLst>
          </c:dPt>
          <c:cat>
            <c:strRef>
              <c:f>Sheet1!$A$2:$A$3</c:f>
              <c:strCache>
                <c:ptCount val="2"/>
                <c:pt idx="0">
                  <c:v>Completed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0E-4F66-BA71-E012B6643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ln w="25400" cap="flat">
                <a:solidFill>
                  <a:srgbClr val="1B3A6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A62-403C-BCF9-0256238E4A96}"/>
              </c:ext>
            </c:extLst>
          </c:dPt>
          <c:dPt>
            <c:idx val="1"/>
            <c:bubble3D val="0"/>
            <c:spPr>
              <a:solidFill>
                <a:srgbClr val="2A4A76"/>
              </a:solidFill>
              <a:ln w="25400" cap="flat">
                <a:solidFill>
                  <a:srgbClr val="1B3A6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A62-403C-BCF9-0256238E4A96}"/>
              </c:ext>
            </c:extLst>
          </c:dPt>
          <c:cat>
            <c:strRef>
              <c:f>Sheet1!$A$2:$A$3</c:f>
              <c:strCache>
                <c:ptCount val="2"/>
                <c:pt idx="0">
                  <c:v>Completed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62-403C-BCF9-0256238E4A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98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27.png"/><Relationship Id="rId15" Type="http://schemas.openxmlformats.org/officeDocument/2006/relationships/image" Target="../media/image35.png"/><Relationship Id="rId10" Type="http://schemas.openxmlformats.org/officeDocument/2006/relationships/image" Target="../media/image31.png"/><Relationship Id="rId19" Type="http://schemas.openxmlformats.org/officeDocument/2006/relationships/image" Target="../media/image39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40.png"/><Relationship Id="rId7" Type="http://schemas.openxmlformats.org/officeDocument/2006/relationships/image" Target="../media/image6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B3A6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188720" cy="11887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" y="113202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YEAR PROJECT  •  REVIEW –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VisionEdge (Opticals)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3456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Optical Management System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66928" y="4160520"/>
            <a:ext cx="292608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Devanshu Chaudhari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4773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Computer Applications (MCA)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51114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2026–27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5989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Optical Retail and Artificial Intelligence for Smarter Eye Care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Presentation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for Review-1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088636" cy="1082040"/>
          </a:xfrm>
          <a:prstGeom prst="roundRect">
            <a:avLst>
              <a:gd name="adj" fmla="val 10141"/>
            </a:avLst>
          </a:prstGeom>
          <a:solidFill>
            <a:srgbClr val="EAF2FA"/>
          </a:solidFill>
          <a:ln/>
          <a:effectLst>
            <a:outerShdw blurRad="76200" dist="25400" dir="5400000" algn="bl" rotWithShape="0">
              <a:srgbClr val="8199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1540" y="1844040"/>
            <a:ext cx="685800" cy="68580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6" name="Image 0" descr="icons/file_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0223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764792"/>
            <a:ext cx="3991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737360" y="2011680"/>
            <a:ext cx="39913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31636" y="1645920"/>
            <a:ext cx="5088636" cy="1082040"/>
          </a:xfrm>
          <a:prstGeom prst="roundRect">
            <a:avLst>
              <a:gd name="adj" fmla="val 10141"/>
            </a:avLst>
          </a:prstGeom>
          <a:solidFill>
            <a:srgbClr val="EAF2FA"/>
          </a:solidFill>
          <a:ln/>
          <a:effectLst>
            <a:outerShdw blurRad="76200" dist="25400" dir="5400000" algn="bl" rotWithShape="0">
              <a:srgbClr val="8199B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37376" y="1844040"/>
            <a:ext cx="685800" cy="68580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11" name="Image 1" descr="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20223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3196" y="1764792"/>
            <a:ext cx="3991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283196" y="2011680"/>
            <a:ext cx="39913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800" y="3139440"/>
            <a:ext cx="5088636" cy="1082040"/>
          </a:xfrm>
          <a:prstGeom prst="roundRect">
            <a:avLst>
              <a:gd name="adj" fmla="val 10141"/>
            </a:avLst>
          </a:prstGeom>
          <a:solidFill>
            <a:srgbClr val="EAF2FA"/>
          </a:solidFill>
          <a:ln/>
          <a:effectLst>
            <a:outerShdw blurRad="76200" dist="25400" dir="5400000" algn="bl" rotWithShape="0">
              <a:srgbClr val="8199B5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" y="3337560"/>
            <a:ext cx="685800" cy="68580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16" name="Image 2" descr="icons/ey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35158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258312"/>
            <a:ext cx="3991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737360" y="3505200"/>
            <a:ext cx="39913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231636" y="3139440"/>
            <a:ext cx="5088636" cy="1082040"/>
          </a:xfrm>
          <a:prstGeom prst="roundRect">
            <a:avLst>
              <a:gd name="adj" fmla="val 10141"/>
            </a:avLst>
          </a:prstGeom>
          <a:solidFill>
            <a:srgbClr val="EAF2FA"/>
          </a:solidFill>
          <a:ln/>
          <a:effectLst>
            <a:outerShdw blurRad="76200" dist="25400" dir="5400000" algn="bl" rotWithShape="0">
              <a:srgbClr val="8199B5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37376" y="3337560"/>
            <a:ext cx="685800" cy="68580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21" name="Image 3" descr="icons/log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684" y="35158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3196" y="3258312"/>
            <a:ext cx="3991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283196" y="3505200"/>
            <a:ext cx="39913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 Specification (SRS)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85800" y="4632960"/>
            <a:ext cx="5088636" cy="1082040"/>
          </a:xfrm>
          <a:prstGeom prst="roundRect">
            <a:avLst>
              <a:gd name="adj" fmla="val 10141"/>
            </a:avLst>
          </a:prstGeom>
          <a:solidFill>
            <a:srgbClr val="EAF2FA"/>
          </a:solidFill>
          <a:ln/>
          <a:effectLst>
            <a:outerShdw blurRad="76200" dist="25400" dir="5400000" algn="bl" rotWithShape="0">
              <a:srgbClr val="8199B5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91540" y="4831080"/>
            <a:ext cx="685800" cy="68580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26" name="Image 4" descr="icons/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500938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37360" y="4751832"/>
            <a:ext cx="3991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1737360" y="4998720"/>
            <a:ext cx="39913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6231636" y="4632960"/>
            <a:ext cx="5088636" cy="1082040"/>
          </a:xfrm>
          <a:prstGeom prst="roundRect">
            <a:avLst>
              <a:gd name="adj" fmla="val 10141"/>
            </a:avLst>
          </a:prstGeom>
          <a:solidFill>
            <a:srgbClr val="EAF2FA"/>
          </a:solidFill>
          <a:ln/>
          <a:effectLst>
            <a:outerShdw blurRad="76200" dist="25400" dir="5400000" algn="bl" rotWithShape="0">
              <a:srgbClr val="8199B5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37376" y="4831080"/>
            <a:ext cx="685800" cy="68580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31" name="Image 5" descr="icons/check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5684" y="500938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83196" y="4751832"/>
            <a:ext cx="3991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7283196" y="4998720"/>
            <a:ext cx="39913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VisionEdge (Opticals)  •  Review-1  •  MCA Project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Traditional Optical Shop Operations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90038" cy="144018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63500" dist="25400" dir="5400000" algn="bl" rotWithShape="0">
              <a:srgbClr val="8199B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635" y="1636776"/>
            <a:ext cx="566928" cy="566928"/>
          </a:xfrm>
          <a:prstGeom prst="ellipse">
            <a:avLst/>
          </a:prstGeom>
          <a:solidFill>
            <a:srgbClr val="EAF2FA"/>
          </a:solidFill>
          <a:ln/>
        </p:spPr>
      </p:sp>
      <p:pic>
        <p:nvPicPr>
          <p:cNvPr id="6" name="Image 0" descr="icons/file_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036" y="178417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258568"/>
            <a:ext cx="24437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Prescription Handling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3232" y="2743200"/>
            <a:ext cx="24437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test records maintained on paper, prone to loss and error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12998" y="1508760"/>
            <a:ext cx="2590038" cy="144018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63500" dist="25400" dir="5400000" algn="bl" rotWithShape="0">
              <a:srgbClr val="8199B5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24553" y="1636776"/>
            <a:ext cx="566928" cy="566928"/>
          </a:xfrm>
          <a:prstGeom prst="ellipse">
            <a:avLst/>
          </a:prstGeom>
          <a:solidFill>
            <a:srgbClr val="EAF2FA"/>
          </a:solidFill>
          <a:ln/>
        </p:spPr>
      </p:sp>
      <p:pic>
        <p:nvPicPr>
          <p:cNvPr id="11" name="Image 1" descr="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54" y="17841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6150" y="2258568"/>
            <a:ext cx="24437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Billing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86150" y="2743200"/>
            <a:ext cx="24437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invoice generation slows down customer checkout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85916" y="1508760"/>
            <a:ext cx="2590038" cy="144018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63500" dist="25400" dir="5400000" algn="bl" rotWithShape="0">
              <a:srgbClr val="8199B5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97471" y="1636776"/>
            <a:ext cx="566928" cy="566928"/>
          </a:xfrm>
          <a:prstGeom prst="ellipse">
            <a:avLst/>
          </a:prstGeom>
          <a:solidFill>
            <a:srgbClr val="EAF2FA"/>
          </a:solidFill>
          <a:ln/>
        </p:spPr>
      </p:sp>
      <p:pic>
        <p:nvPicPr>
          <p:cNvPr id="16" name="Image 2" descr="icons/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4872" y="178417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9068" y="2258568"/>
            <a:ext cx="24437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Errors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59068" y="2743200"/>
            <a:ext cx="24437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stock tracking of frames and lenses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58834" y="1508760"/>
            <a:ext cx="2590038" cy="144018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63500" dist="25400" dir="5400000" algn="bl" rotWithShape="0">
              <a:srgbClr val="8199B5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70389" y="1636776"/>
            <a:ext cx="566928" cy="566928"/>
          </a:xfrm>
          <a:prstGeom prst="ellipse">
            <a:avLst/>
          </a:prstGeom>
          <a:solidFill>
            <a:srgbClr val="EAF2FA"/>
          </a:solidFill>
          <a:ln/>
        </p:spPr>
      </p:sp>
      <p:pic>
        <p:nvPicPr>
          <p:cNvPr id="21" name="Image 3" descr="icons/database_sl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7790" y="1784177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31986" y="2258568"/>
            <a:ext cx="24437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Database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031986" y="2743200"/>
            <a:ext cx="24437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prescription and sales data remain scattered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40080" y="3131820"/>
            <a:ext cx="2590038" cy="144018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63500" dist="25400" dir="5400000" algn="bl" rotWithShape="0">
              <a:srgbClr val="8199B5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651635" y="3259836"/>
            <a:ext cx="566928" cy="566928"/>
          </a:xfrm>
          <a:prstGeom prst="ellipse">
            <a:avLst/>
          </a:prstGeom>
          <a:solidFill>
            <a:srgbClr val="EAF2FA"/>
          </a:solidFill>
          <a:ln/>
        </p:spPr>
      </p:sp>
      <p:pic>
        <p:nvPicPr>
          <p:cNvPr id="26" name="Image 4" descr="icons/users_sla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9036" y="3407237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" y="3881628"/>
            <a:ext cx="24437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Managing Customers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13232" y="4366260"/>
            <a:ext cx="24437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history of visits, orders or preferences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412998" y="3131820"/>
            <a:ext cx="2590038" cy="144018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63500" dist="25400" dir="5400000" algn="bl" rotWithShape="0">
              <a:srgbClr val="8199B5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424553" y="3259836"/>
            <a:ext cx="566928" cy="566928"/>
          </a:xfrm>
          <a:prstGeom prst="ellipse">
            <a:avLst/>
          </a:prstGeom>
          <a:solidFill>
            <a:srgbClr val="EAF2FA"/>
          </a:solidFill>
          <a:ln/>
        </p:spPr>
      </p:sp>
      <p:pic>
        <p:nvPicPr>
          <p:cNvPr id="31" name="Image 5" descr="icons/cash_regis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1954" y="3407237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86150" y="3881628"/>
            <a:ext cx="24437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486150" y="4366260"/>
            <a:ext cx="24437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and physical files used for daily transactions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85916" y="3131820"/>
            <a:ext cx="2590038" cy="144018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63500" dist="25400" dir="5400000" algn="bl" rotWithShape="0">
              <a:srgbClr val="8199B5">
                <a:alpha val="1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197471" y="3259836"/>
            <a:ext cx="566928" cy="566928"/>
          </a:xfrm>
          <a:prstGeom prst="ellipse">
            <a:avLst/>
          </a:prstGeom>
          <a:solidFill>
            <a:srgbClr val="EAF2FA"/>
          </a:solidFill>
          <a:ln/>
        </p:spPr>
      </p:sp>
      <p:pic>
        <p:nvPicPr>
          <p:cNvPr id="36" name="Image 6" descr="icons/robot_o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4872" y="3407237"/>
            <a:ext cx="272125" cy="2721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59068" y="3881628"/>
            <a:ext cx="24437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Assistance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6259068" y="4366260"/>
            <a:ext cx="24437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recommendation or virtual try-on support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958834" y="3131820"/>
            <a:ext cx="2590038" cy="144018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63500" dist="25400" dir="5400000" algn="bl" rotWithShape="0">
              <a:srgbClr val="8199B5">
                <a:alpha val="1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970389" y="3259836"/>
            <a:ext cx="566928" cy="566928"/>
          </a:xfrm>
          <a:prstGeom prst="ellipse">
            <a:avLst/>
          </a:prstGeom>
          <a:solidFill>
            <a:srgbClr val="EAF2FA"/>
          </a:solidFill>
          <a:ln/>
        </p:spPr>
      </p:sp>
      <p:pic>
        <p:nvPicPr>
          <p:cNvPr id="41" name="Image 7" descr="icons/bo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17790" y="3407237"/>
            <a:ext cx="272125" cy="27212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31986" y="3881628"/>
            <a:ext cx="24437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Digital Transformation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9031986" y="4366260"/>
            <a:ext cx="24437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processes limit scalability and customer experience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B3A6B"/>
          </a:solidFill>
          <a:ln/>
        </p:spPr>
      </p:sp>
      <p:sp>
        <p:nvSpPr>
          <p:cNvPr id="45" name="Text 35"/>
          <p:cNvSpPr/>
          <p:nvPr/>
        </p:nvSpPr>
        <p:spPr>
          <a:xfrm>
            <a:off x="868680" y="4892040"/>
            <a:ext cx="10451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VisionEdge replaces fragmented, manual workflows with a unified, </a:t>
            </a: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digital platform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bringing accuracy, speed and a modern customer experience to optical retail.</a:t>
            </a:r>
            <a:endParaRPr lang="en-US" sz="1350" dirty="0"/>
          </a:p>
        </p:txBody>
      </p:sp>
      <p:sp>
        <p:nvSpPr>
          <p:cNvPr id="46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VisionEdge (Opticals)  •  Review-1  •  MCA Project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Goals Defined for VisionEdge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27048"/>
            <a:ext cx="2035454" cy="1965960"/>
          </a:xfrm>
          <a:prstGeom prst="roundRect">
            <a:avLst>
              <a:gd name="adj" fmla="val 4651"/>
            </a:avLst>
          </a:prstGeom>
          <a:solidFill>
            <a:srgbClr val="1B3A6B"/>
          </a:solidFill>
          <a:ln/>
          <a:effectLst>
            <a:outerShdw blurRad="63500" dist="25400" dir="5400000" algn="bl" rotWithShape="0">
              <a:srgbClr val="6E7F92">
                <a:alpha val="20000"/>
              </a:srgbClr>
            </a:outerShdw>
          </a:effectLst>
        </p:spPr>
      </p:sp>
      <p:pic>
        <p:nvPicPr>
          <p:cNvPr id="5" name="Image 0" descr="icons/us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99" y="1709928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423160"/>
            <a:ext cx="194401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Customer Management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58414" y="1527048"/>
            <a:ext cx="2035454" cy="1965960"/>
          </a:xfrm>
          <a:prstGeom prst="roundRect">
            <a:avLst>
              <a:gd name="adj" fmla="val 4651"/>
            </a:avLst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6E7F92">
                <a:alpha val="20000"/>
              </a:srgbClr>
            </a:outerShdw>
          </a:effectLst>
        </p:spPr>
      </p:sp>
      <p:pic>
        <p:nvPicPr>
          <p:cNvPr id="8" name="Image 1" descr="icons/prescriptio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3534" y="1709928"/>
            <a:ext cx="585216" cy="5852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04134" y="2423160"/>
            <a:ext cx="194401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Management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076749" y="1527048"/>
            <a:ext cx="2035454" cy="1965960"/>
          </a:xfrm>
          <a:prstGeom prst="roundRect">
            <a:avLst>
              <a:gd name="adj" fmla="val 4651"/>
            </a:avLst>
          </a:prstGeom>
          <a:solidFill>
            <a:srgbClr val="1B3A6B"/>
          </a:solidFill>
          <a:ln/>
          <a:effectLst>
            <a:outerShdw blurRad="63500" dist="25400" dir="5400000" algn="bl" rotWithShape="0">
              <a:srgbClr val="6E7F92">
                <a:alpha val="20000"/>
              </a:srgbClr>
            </a:outerShdw>
          </a:effectLst>
        </p:spPr>
      </p:sp>
      <p:pic>
        <p:nvPicPr>
          <p:cNvPr id="11" name="Image 2" descr="icons/boxe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1868" y="1709928"/>
            <a:ext cx="585216" cy="585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2469" y="2423160"/>
            <a:ext cx="194401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7295083" y="1527048"/>
            <a:ext cx="2035454" cy="1965960"/>
          </a:xfrm>
          <a:prstGeom prst="roundRect">
            <a:avLst>
              <a:gd name="adj" fmla="val 4651"/>
            </a:avLst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6E7F92">
                <a:alpha val="20000"/>
              </a:srgbClr>
            </a:outerShdw>
          </a:effectLst>
        </p:spPr>
      </p:sp>
      <p:pic>
        <p:nvPicPr>
          <p:cNvPr id="14" name="Image 3" descr="icons/invoic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0202" y="1709928"/>
            <a:ext cx="585216" cy="5852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40803" y="2423160"/>
            <a:ext cx="194401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Automation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9513418" y="1527048"/>
            <a:ext cx="2035454" cy="1965960"/>
          </a:xfrm>
          <a:prstGeom prst="roundRect">
            <a:avLst>
              <a:gd name="adj" fmla="val 4651"/>
            </a:avLst>
          </a:prstGeom>
          <a:solidFill>
            <a:srgbClr val="1B3A6B"/>
          </a:solidFill>
          <a:ln/>
          <a:effectLst>
            <a:outerShdw blurRad="63500" dist="25400" dir="5400000" algn="bl" rotWithShape="0">
              <a:srgbClr val="6E7F92">
                <a:alpha val="20000"/>
              </a:srgbClr>
            </a:outerShdw>
          </a:effectLst>
        </p:spPr>
      </p:sp>
      <p:pic>
        <p:nvPicPr>
          <p:cNvPr id="17" name="Image 4" descr="icons/ca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8537" y="1709928"/>
            <a:ext cx="585216" cy="58521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59138" y="2423160"/>
            <a:ext cx="194401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40080" y="3767328"/>
            <a:ext cx="2035454" cy="1965960"/>
          </a:xfrm>
          <a:prstGeom prst="roundRect">
            <a:avLst>
              <a:gd name="adj" fmla="val 4651"/>
            </a:avLst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6E7F92">
                <a:alpha val="20000"/>
              </a:srgbClr>
            </a:outerShdw>
          </a:effectLst>
        </p:spPr>
      </p:sp>
      <p:pic>
        <p:nvPicPr>
          <p:cNvPr id="20" name="Image 5" descr="icons/calenda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5199" y="3950208"/>
            <a:ext cx="585216" cy="58521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" y="4663440"/>
            <a:ext cx="194401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Scheduling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2858414" y="3767328"/>
            <a:ext cx="2035454" cy="1965960"/>
          </a:xfrm>
          <a:prstGeom prst="roundRect">
            <a:avLst>
              <a:gd name="adj" fmla="val 4651"/>
            </a:avLst>
          </a:prstGeom>
          <a:solidFill>
            <a:srgbClr val="1B3A6B"/>
          </a:solidFill>
          <a:ln/>
          <a:effectLst>
            <a:outerShdw blurRad="63500" dist="25400" dir="5400000" algn="bl" rotWithShape="0">
              <a:srgbClr val="6E7F92">
                <a:alpha val="20000"/>
              </a:srgbClr>
            </a:outerShdw>
          </a:effectLst>
        </p:spPr>
      </p:sp>
      <p:pic>
        <p:nvPicPr>
          <p:cNvPr id="23" name="Image 6" descr="icons/robo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3534" y="3950208"/>
            <a:ext cx="585216" cy="58521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904134" y="4663440"/>
            <a:ext cx="194401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Frame Recommendation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5076749" y="3767328"/>
            <a:ext cx="2035454" cy="1965960"/>
          </a:xfrm>
          <a:prstGeom prst="roundRect">
            <a:avLst>
              <a:gd name="adj" fmla="val 4651"/>
            </a:avLst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6E7F92">
                <a:alpha val="20000"/>
              </a:srgbClr>
            </a:outerShdw>
          </a:effectLst>
        </p:spPr>
      </p:sp>
      <p:pic>
        <p:nvPicPr>
          <p:cNvPr id="26" name="Image 7" descr="icons/glasse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1868" y="3950208"/>
            <a:ext cx="585216" cy="58521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22469" y="4663440"/>
            <a:ext cx="194401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Try-On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7295083" y="3767328"/>
            <a:ext cx="2035454" cy="1965960"/>
          </a:xfrm>
          <a:prstGeom prst="roundRect">
            <a:avLst>
              <a:gd name="adj" fmla="val 4651"/>
            </a:avLst>
          </a:prstGeom>
          <a:solidFill>
            <a:srgbClr val="1B3A6B"/>
          </a:solidFill>
          <a:ln/>
          <a:effectLst>
            <a:outerShdw blurRad="63500" dist="25400" dir="5400000" algn="bl" rotWithShape="0">
              <a:srgbClr val="6E7F92">
                <a:alpha val="20000"/>
              </a:srgbClr>
            </a:outerShdw>
          </a:effectLst>
        </p:spPr>
      </p:sp>
      <p:pic>
        <p:nvPicPr>
          <p:cNvPr id="29" name="Image 8" descr="icons/lock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0202" y="3950208"/>
            <a:ext cx="585216" cy="58521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340803" y="4663440"/>
            <a:ext cx="194401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9513418" y="3767328"/>
            <a:ext cx="2035454" cy="1965960"/>
          </a:xfrm>
          <a:prstGeom prst="roundRect">
            <a:avLst>
              <a:gd name="adj" fmla="val 4651"/>
            </a:avLst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6E7F92">
                <a:alpha val="20000"/>
              </a:srgbClr>
            </a:outerShdw>
          </a:effectLst>
        </p:spPr>
      </p:sp>
      <p:pic>
        <p:nvPicPr>
          <p:cNvPr id="32" name="Image 9" descr="icons/chart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38537" y="3950208"/>
            <a:ext cx="585216" cy="58521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559138" y="4663440"/>
            <a:ext cx="194401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100" dirty="0"/>
          </a:p>
        </p:txBody>
      </p:sp>
      <p:sp>
        <p:nvSpPr>
          <p:cNvPr id="3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VisionEdge (Opticals)  •  Review-1  •  MCA Project</a:t>
            </a:r>
            <a:endParaRPr lang="en-US" sz="1000" dirty="0"/>
          </a:p>
        </p:txBody>
      </p:sp>
      <p:sp>
        <p:nvSpPr>
          <p:cNvPr id="3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 of Existing Optical Management Systems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908792" cy="3246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VisionEdge Improvement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Optical Store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registers, no data backup, error-prone billing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digital records with automated billing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Optical Software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billing only; no prescription or inventory linkage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module for customers, prescriptions and stock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Eye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focus; lacks retail features like orders and try-on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Retail-focused workflow with orders and virtual try-on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Optical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Costly, generic, lacks AI-based personalization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Affordable AI-driven recommendation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EAF2FA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4" name="Shape 3"/>
          <p:cNvSpPr/>
          <p:nvPr/>
        </p:nvSpPr>
        <p:spPr>
          <a:xfrm>
            <a:off x="845820" y="51206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ey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52751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4892040"/>
            <a:ext cx="9857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existing systems, VisionEdge combines </a:t>
            </a: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management, inventory, billing and AI-based personalization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single, affordable platform.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VisionEdge (Opticals)  •  Review-1  •  MCA Project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 Specification (SRS)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62956" cy="5074920"/>
          </a:xfrm>
          <a:prstGeom prst="roundRect">
            <a:avLst>
              <a:gd name="adj" fmla="val 1802"/>
            </a:avLst>
          </a:prstGeom>
          <a:solidFill>
            <a:srgbClr val="EAF2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25880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700" dirty="0"/>
          </a:p>
        </p:txBody>
      </p:sp>
      <p:pic>
        <p:nvPicPr>
          <p:cNvPr id="5" name="Image 0" descr="icons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470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01368"/>
            <a:ext cx="43571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250" dirty="0"/>
          </a:p>
        </p:txBody>
      </p:sp>
      <p:pic>
        <p:nvPicPr>
          <p:cNvPr id="7" name="Image 1" descr="icons/user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28142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235708"/>
            <a:ext cx="43571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250" dirty="0"/>
          </a:p>
        </p:txBody>
      </p:sp>
      <p:pic>
        <p:nvPicPr>
          <p:cNvPr id="9" name="Image 2" descr="icons/prescription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715768"/>
            <a:ext cx="329184" cy="329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670048"/>
            <a:ext cx="43571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Management</a:t>
            </a:r>
            <a:endParaRPr lang="en-US" sz="1250" dirty="0"/>
          </a:p>
        </p:txBody>
      </p:sp>
      <p:pic>
        <p:nvPicPr>
          <p:cNvPr id="11" name="Image 3" descr="icons/inventory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150108"/>
            <a:ext cx="329184" cy="3291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3104388"/>
            <a:ext cx="43571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</p:txBody>
      </p:sp>
      <p:pic>
        <p:nvPicPr>
          <p:cNvPr id="13" name="Image 4" descr="icons/orders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584448"/>
            <a:ext cx="329184" cy="3291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80160" y="3538728"/>
            <a:ext cx="43571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50" dirty="0"/>
          </a:p>
        </p:txBody>
      </p:sp>
      <p:pic>
        <p:nvPicPr>
          <p:cNvPr id="15" name="Image 5" descr="icons/billing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018788"/>
            <a:ext cx="329184" cy="32918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80160" y="3973068"/>
            <a:ext cx="43571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250" dirty="0"/>
          </a:p>
        </p:txBody>
      </p:sp>
      <p:pic>
        <p:nvPicPr>
          <p:cNvPr id="17" name="Image 6" descr="icons/appt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453128"/>
            <a:ext cx="329184" cy="32918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280160" y="4407408"/>
            <a:ext cx="43571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250" dirty="0"/>
          </a:p>
        </p:txBody>
      </p:sp>
      <p:pic>
        <p:nvPicPr>
          <p:cNvPr id="19" name="Image 7" descr="icons/reports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4887468"/>
            <a:ext cx="329184" cy="32918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280160" y="4841748"/>
            <a:ext cx="43571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pic>
        <p:nvPicPr>
          <p:cNvPr id="21" name="Image 8" descr="icons/ai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5321808"/>
            <a:ext cx="329184" cy="329184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280160" y="5276088"/>
            <a:ext cx="43571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250" dirty="0"/>
          </a:p>
        </p:txBody>
      </p:sp>
      <p:pic>
        <p:nvPicPr>
          <p:cNvPr id="23" name="Image 9" descr="icons/tryon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" y="5756148"/>
            <a:ext cx="329184" cy="329184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280160" y="5710428"/>
            <a:ext cx="43571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Try-On</a:t>
            </a:r>
            <a:endParaRPr lang="en-US" sz="1250" dirty="0"/>
          </a:p>
        </p:txBody>
      </p:sp>
      <p:sp>
        <p:nvSpPr>
          <p:cNvPr id="25" name="Shape 13"/>
          <p:cNvSpPr/>
          <p:nvPr/>
        </p:nvSpPr>
        <p:spPr>
          <a:xfrm>
            <a:off x="6277356" y="1143000"/>
            <a:ext cx="5362956" cy="5074920"/>
          </a:xfrm>
          <a:prstGeom prst="roundRect">
            <a:avLst>
              <a:gd name="adj" fmla="val 1802"/>
            </a:avLst>
          </a:prstGeom>
          <a:solidFill>
            <a:srgbClr val="1B3A6B"/>
          </a:solidFill>
          <a:ln/>
        </p:spPr>
      </p:sp>
      <p:sp>
        <p:nvSpPr>
          <p:cNvPr id="26" name="Text 14"/>
          <p:cNvSpPr/>
          <p:nvPr/>
        </p:nvSpPr>
        <p:spPr>
          <a:xfrm>
            <a:off x="6551676" y="1325880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700" dirty="0"/>
          </a:p>
        </p:txBody>
      </p:sp>
      <p:sp>
        <p:nvSpPr>
          <p:cNvPr id="27" name="Shape 15"/>
          <p:cNvSpPr/>
          <p:nvPr/>
        </p:nvSpPr>
        <p:spPr>
          <a:xfrm>
            <a:off x="6505956" y="18196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10" descr="icons/spe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4828" y="1938528"/>
            <a:ext cx="219456" cy="219456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7100316" y="1810512"/>
            <a:ext cx="42656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0" name="Text 17"/>
          <p:cNvSpPr/>
          <p:nvPr/>
        </p:nvSpPr>
        <p:spPr>
          <a:xfrm>
            <a:off x="7100316" y="2048256"/>
            <a:ext cx="42656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 for search, billing and reports</a:t>
            </a:r>
            <a:endParaRPr lang="en-US" sz="950" dirty="0"/>
          </a:p>
        </p:txBody>
      </p:sp>
      <p:sp>
        <p:nvSpPr>
          <p:cNvPr id="31" name="Shape 18"/>
          <p:cNvSpPr/>
          <p:nvPr/>
        </p:nvSpPr>
        <p:spPr>
          <a:xfrm>
            <a:off x="6505956" y="24277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11" descr="icons/securit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4828" y="2546604"/>
            <a:ext cx="219456" cy="219456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7100316" y="2418588"/>
            <a:ext cx="42656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4" name="Text 20"/>
          <p:cNvSpPr/>
          <p:nvPr/>
        </p:nvSpPr>
        <p:spPr>
          <a:xfrm>
            <a:off x="7100316" y="2656332"/>
            <a:ext cx="42656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login and role-based access control</a:t>
            </a:r>
            <a:endParaRPr lang="en-US" sz="950" dirty="0"/>
          </a:p>
        </p:txBody>
      </p:sp>
      <p:sp>
        <p:nvSpPr>
          <p:cNvPr id="35" name="Shape 21"/>
          <p:cNvSpPr/>
          <p:nvPr/>
        </p:nvSpPr>
        <p:spPr>
          <a:xfrm>
            <a:off x="6505956" y="3035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12" descr="icons/scalabilit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4828" y="3154680"/>
            <a:ext cx="219456" cy="219456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7100316" y="3026664"/>
            <a:ext cx="42656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38" name="Text 23"/>
          <p:cNvSpPr/>
          <p:nvPr/>
        </p:nvSpPr>
        <p:spPr>
          <a:xfrm>
            <a:off x="7100316" y="3264408"/>
            <a:ext cx="42656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growing customers and inventory data</a:t>
            </a:r>
            <a:endParaRPr lang="en-US" sz="950" dirty="0"/>
          </a:p>
        </p:txBody>
      </p:sp>
      <p:sp>
        <p:nvSpPr>
          <p:cNvPr id="39" name="Shape 24"/>
          <p:cNvSpPr/>
          <p:nvPr/>
        </p:nvSpPr>
        <p:spPr>
          <a:xfrm>
            <a:off x="6505956" y="36438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13" descr="icons/reliability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4828" y="3762756"/>
            <a:ext cx="219456" cy="219456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7100316" y="3634740"/>
            <a:ext cx="42656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42" name="Text 26"/>
          <p:cNvSpPr/>
          <p:nvPr/>
        </p:nvSpPr>
        <p:spPr>
          <a:xfrm>
            <a:off x="7100316" y="3872484"/>
            <a:ext cx="42656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error-free daily operation</a:t>
            </a:r>
            <a:endParaRPr lang="en-US" sz="950" dirty="0"/>
          </a:p>
        </p:txBody>
      </p:sp>
      <p:sp>
        <p:nvSpPr>
          <p:cNvPr id="43" name="Shape 27"/>
          <p:cNvSpPr/>
          <p:nvPr/>
        </p:nvSpPr>
        <p:spPr>
          <a:xfrm>
            <a:off x="6505956" y="4251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4" name="Image 14" descr="icons/usabilit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4828" y="4370832"/>
            <a:ext cx="219456" cy="219456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7100316" y="4242816"/>
            <a:ext cx="42656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46" name="Text 29"/>
          <p:cNvSpPr/>
          <p:nvPr/>
        </p:nvSpPr>
        <p:spPr>
          <a:xfrm>
            <a:off x="7100316" y="4480560"/>
            <a:ext cx="42656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intuitive interface for shop staff</a:t>
            </a:r>
            <a:endParaRPr lang="en-US" sz="950" dirty="0"/>
          </a:p>
        </p:txBody>
      </p:sp>
      <p:sp>
        <p:nvSpPr>
          <p:cNvPr id="47" name="Shape 30"/>
          <p:cNvSpPr/>
          <p:nvPr/>
        </p:nvSpPr>
        <p:spPr>
          <a:xfrm>
            <a:off x="6505956" y="48600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15" descr="icons/maintainability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4828" y="4978908"/>
            <a:ext cx="219456" cy="219456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7100316" y="4850892"/>
            <a:ext cx="42656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50" name="Text 32"/>
          <p:cNvSpPr/>
          <p:nvPr/>
        </p:nvSpPr>
        <p:spPr>
          <a:xfrm>
            <a:off x="7100316" y="5088636"/>
            <a:ext cx="42656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codebase for easy future upgrades</a:t>
            </a:r>
            <a:endParaRPr lang="en-US" sz="950" dirty="0"/>
          </a:p>
        </p:txBody>
      </p:sp>
      <p:sp>
        <p:nvSpPr>
          <p:cNvPr id="51" name="Shape 33"/>
          <p:cNvSpPr/>
          <p:nvPr/>
        </p:nvSpPr>
        <p:spPr>
          <a:xfrm>
            <a:off x="6505956" y="54681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2" name="Image 16" descr="icons/availability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24828" y="5586984"/>
            <a:ext cx="219456" cy="219456"/>
          </a:xfrm>
          <a:prstGeom prst="rect">
            <a:avLst/>
          </a:prstGeom>
        </p:spPr>
      </p:pic>
      <p:sp>
        <p:nvSpPr>
          <p:cNvPr id="53" name="Text 34"/>
          <p:cNvSpPr/>
          <p:nvPr/>
        </p:nvSpPr>
        <p:spPr>
          <a:xfrm>
            <a:off x="7100316" y="5458968"/>
            <a:ext cx="42656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54" name="Text 35"/>
          <p:cNvSpPr/>
          <p:nvPr/>
        </p:nvSpPr>
        <p:spPr>
          <a:xfrm>
            <a:off x="7100316" y="5696712"/>
            <a:ext cx="42656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whenever the shop is operational</a:t>
            </a:r>
            <a:endParaRPr lang="en-US" sz="950" dirty="0"/>
          </a:p>
        </p:txBody>
      </p:sp>
      <p:sp>
        <p:nvSpPr>
          <p:cNvPr id="55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VisionEdge (Opticals)  •  Review-1  •  MCA Project</a:t>
            </a:r>
            <a:endParaRPr lang="en-US" sz="1000" dirty="0"/>
          </a:p>
        </p:txBody>
      </p:sp>
      <p:sp>
        <p:nvSpPr>
          <p:cNvPr id="56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Finalized for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EAF2FA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1737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pic>
        <p:nvPicPr>
          <p:cNvPr id="6" name="Image 0" descr="icons/html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29" y="1545336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2011680"/>
            <a:ext cx="220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50" dirty="0"/>
          </a:p>
        </p:txBody>
      </p:sp>
      <p:pic>
        <p:nvPicPr>
          <p:cNvPr id="8" name="Image 1" descr="icons/cs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247" y="1545336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07458" y="2011680"/>
            <a:ext cx="220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950" dirty="0"/>
          </a:p>
        </p:txBody>
      </p:sp>
      <p:pic>
        <p:nvPicPr>
          <p:cNvPr id="10" name="Image 2" descr="icons/bootstr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6665" y="1545336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08876" y="2011680"/>
            <a:ext cx="220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950" dirty="0"/>
          </a:p>
        </p:txBody>
      </p:sp>
      <p:pic>
        <p:nvPicPr>
          <p:cNvPr id="12" name="Image 3" descr="icons/j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8083" y="1545336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10294" y="2011680"/>
            <a:ext cx="220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548640" y="2377440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777240" y="2377440"/>
            <a:ext cx="1737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 dirty="0"/>
          </a:p>
        </p:txBody>
      </p:sp>
      <p:pic>
        <p:nvPicPr>
          <p:cNvPr id="16" name="Image 4" descr="icons/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4538" y="2459736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606040" y="2926080"/>
            <a:ext cx="4402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pic>
        <p:nvPicPr>
          <p:cNvPr id="18" name="Image 5" descr="icons/fla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7374" y="2459736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008876" y="2926080"/>
            <a:ext cx="4402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548640" y="3291840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EAF2FA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777240" y="3291840"/>
            <a:ext cx="1737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50" dirty="0"/>
          </a:p>
        </p:txBody>
      </p:sp>
      <p:pic>
        <p:nvPicPr>
          <p:cNvPr id="22" name="Image 6" descr="icons/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4538" y="3374136"/>
            <a:ext cx="457200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606040" y="3840480"/>
            <a:ext cx="4402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(current)</a:t>
            </a:r>
            <a:endParaRPr lang="en-US" sz="950" dirty="0"/>
          </a:p>
        </p:txBody>
      </p:sp>
      <p:pic>
        <p:nvPicPr>
          <p:cNvPr id="24" name="Image 7" descr="icons/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7374" y="3374136"/>
            <a:ext cx="457200" cy="4572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08876" y="3840480"/>
            <a:ext cx="4402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(future)</a:t>
            </a:r>
            <a:endParaRPr lang="en-US" sz="950" dirty="0"/>
          </a:p>
        </p:txBody>
      </p:sp>
      <p:sp>
        <p:nvSpPr>
          <p:cNvPr id="26" name="Shape 16"/>
          <p:cNvSpPr/>
          <p:nvPr/>
        </p:nvSpPr>
        <p:spPr>
          <a:xfrm>
            <a:off x="548640" y="4206240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777240" y="4206240"/>
            <a:ext cx="1737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Technologies</a:t>
            </a:r>
            <a:endParaRPr lang="en-US" sz="1350" dirty="0"/>
          </a:p>
        </p:txBody>
      </p:sp>
      <p:pic>
        <p:nvPicPr>
          <p:cNvPr id="28" name="Image 8" descr="icons/opencv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3829" y="4288536"/>
            <a:ext cx="457200" cy="4572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2606040" y="4754880"/>
            <a:ext cx="220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50" dirty="0"/>
          </a:p>
        </p:txBody>
      </p:sp>
      <p:pic>
        <p:nvPicPr>
          <p:cNvPr id="30" name="Image 9" descr="icons/ai_ap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5247" y="4288536"/>
            <a:ext cx="457200" cy="4572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807458" y="4754880"/>
            <a:ext cx="220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OpenAI API</a:t>
            </a:r>
            <a:endParaRPr lang="en-US" sz="950" dirty="0"/>
          </a:p>
        </p:txBody>
      </p:sp>
      <p:pic>
        <p:nvPicPr>
          <p:cNvPr id="32" name="Image 10" descr="icons/qrcod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6665" y="4288536"/>
            <a:ext cx="457200" cy="4572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7008876" y="4754880"/>
            <a:ext cx="220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Generator</a:t>
            </a:r>
            <a:endParaRPr lang="en-US" sz="950" dirty="0"/>
          </a:p>
        </p:txBody>
      </p:sp>
      <p:pic>
        <p:nvPicPr>
          <p:cNvPr id="34" name="Image 11" descr="icons/pd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08083" y="4288536"/>
            <a:ext cx="457200" cy="45720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9210294" y="4754880"/>
            <a:ext cx="220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950" dirty="0"/>
          </a:p>
        </p:txBody>
      </p:sp>
      <p:sp>
        <p:nvSpPr>
          <p:cNvPr id="36" name="Shape 22"/>
          <p:cNvSpPr/>
          <p:nvPr/>
        </p:nvSpPr>
        <p:spPr>
          <a:xfrm>
            <a:off x="548640" y="5120640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EAF2FA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37" name="Text 23"/>
          <p:cNvSpPr/>
          <p:nvPr/>
        </p:nvSpPr>
        <p:spPr>
          <a:xfrm>
            <a:off x="777240" y="5120640"/>
            <a:ext cx="1737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Tools</a:t>
            </a:r>
            <a:endParaRPr lang="en-US" sz="1350" dirty="0"/>
          </a:p>
        </p:txBody>
      </p:sp>
      <p:pic>
        <p:nvPicPr>
          <p:cNvPr id="38" name="Image 12" descr="icons/vscod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70732" y="5202936"/>
            <a:ext cx="457200" cy="4572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2606040" y="5669280"/>
            <a:ext cx="2935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950" dirty="0"/>
          </a:p>
        </p:txBody>
      </p:sp>
      <p:pic>
        <p:nvPicPr>
          <p:cNvPr id="40" name="Image 13" descr="icons/gi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05956" y="5202936"/>
            <a:ext cx="457200" cy="4572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5541264" y="5669280"/>
            <a:ext cx="2935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950" dirty="0"/>
          </a:p>
        </p:txBody>
      </p:sp>
      <p:pic>
        <p:nvPicPr>
          <p:cNvPr id="42" name="Image 14" descr="icons/github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41180" y="5202936"/>
            <a:ext cx="457200" cy="4572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8476488" y="5669280"/>
            <a:ext cx="2935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sp>
        <p:nvSpPr>
          <p:cNvPr id="44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VisionEdge (Opticals)  •  Review-1  •  MCA Project</a:t>
            </a:r>
            <a:endParaRPr lang="en-US" sz="1000" dirty="0"/>
          </a:p>
        </p:txBody>
      </p:sp>
      <p:sp>
        <p:nvSpPr>
          <p:cNvPr id="45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Implementation Status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Completed So Far — Project Foundation Ready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 Modules</a:t>
            </a:r>
            <a:endParaRPr lang="en-US" sz="1500" dirty="0"/>
          </a:p>
        </p:txBody>
      </p:sp>
      <p:pic>
        <p:nvPicPr>
          <p:cNvPr id="5" name="Image 0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874520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pic>
        <p:nvPicPr>
          <p:cNvPr id="7" name="Image 1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331720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300" dirty="0"/>
          </a:p>
        </p:txBody>
      </p:sp>
      <p:pic>
        <p:nvPicPr>
          <p:cNvPr id="9" name="Image 2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788920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Management</a:t>
            </a:r>
            <a:endParaRPr lang="en-US" sz="1300" dirty="0"/>
          </a:p>
        </p:txBody>
      </p:sp>
      <p:pic>
        <p:nvPicPr>
          <p:cNvPr id="11" name="Image 3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3246120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300" dirty="0"/>
          </a:p>
        </p:txBody>
      </p:sp>
      <p:pic>
        <p:nvPicPr>
          <p:cNvPr id="13" name="Image 4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4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3703320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548640" y="397764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designed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548640" y="427939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 completed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48640" y="45811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foundation ready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822960" y="4937760"/>
          <a:ext cx="219456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1"/>
          <p:cNvSpPr/>
          <p:nvPr/>
        </p:nvSpPr>
        <p:spPr>
          <a:xfrm>
            <a:off x="822960" y="5440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3108960" y="5486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6537960" y="1463040"/>
            <a:ext cx="5102352" cy="5074920"/>
          </a:xfrm>
          <a:prstGeom prst="roundRect">
            <a:avLst>
              <a:gd name="adj" fmla="val 1802"/>
            </a:avLst>
          </a:prstGeom>
          <a:solidFill>
            <a:srgbClr val="1B3A6B"/>
          </a:solidFill>
          <a:ln/>
        </p:spPr>
      </p:sp>
      <p:sp>
        <p:nvSpPr>
          <p:cNvPr id="22" name="Text 14"/>
          <p:cNvSpPr/>
          <p:nvPr/>
        </p:nvSpPr>
        <p:spPr>
          <a:xfrm>
            <a:off x="6812280" y="1645920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Upcoming Modules — Roadmap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6812280" y="2286000"/>
            <a:ext cx="365760" cy="3657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8122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7315200" y="2267712"/>
            <a:ext cx="4050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995160" y="2651760"/>
            <a:ext cx="0" cy="457200"/>
          </a:xfrm>
          <a:prstGeom prst="line">
            <a:avLst/>
          </a:prstGeom>
          <a:noFill/>
          <a:ln w="15875">
            <a:solidFill>
              <a:srgbClr val="3A5A85"/>
            </a:solidFill>
            <a:prstDash val="dash"/>
          </a:ln>
        </p:spPr>
      </p:sp>
      <p:sp>
        <p:nvSpPr>
          <p:cNvPr id="27" name="Shape 19"/>
          <p:cNvSpPr/>
          <p:nvPr/>
        </p:nvSpPr>
        <p:spPr>
          <a:xfrm>
            <a:off x="6812280" y="3108960"/>
            <a:ext cx="365760" cy="3657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8122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7315200" y="3090672"/>
            <a:ext cx="4050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995160" y="3474720"/>
            <a:ext cx="0" cy="457200"/>
          </a:xfrm>
          <a:prstGeom prst="line">
            <a:avLst/>
          </a:prstGeom>
          <a:noFill/>
          <a:ln w="15875">
            <a:solidFill>
              <a:srgbClr val="3A5A85"/>
            </a:solidFill>
            <a:prstDash val="dash"/>
          </a:ln>
        </p:spPr>
      </p:sp>
      <p:sp>
        <p:nvSpPr>
          <p:cNvPr id="31" name="Shape 23"/>
          <p:cNvSpPr/>
          <p:nvPr/>
        </p:nvSpPr>
        <p:spPr>
          <a:xfrm>
            <a:off x="6812280" y="3931920"/>
            <a:ext cx="365760" cy="3657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8122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7315200" y="3913632"/>
            <a:ext cx="4050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995160" y="4297680"/>
            <a:ext cx="0" cy="457200"/>
          </a:xfrm>
          <a:prstGeom prst="line">
            <a:avLst/>
          </a:prstGeom>
          <a:noFill/>
          <a:ln w="15875">
            <a:solidFill>
              <a:srgbClr val="3A5A85"/>
            </a:solidFill>
            <a:prstDash val="dash"/>
          </a:ln>
        </p:spPr>
      </p:sp>
      <p:sp>
        <p:nvSpPr>
          <p:cNvPr id="35" name="Shape 27"/>
          <p:cNvSpPr/>
          <p:nvPr/>
        </p:nvSpPr>
        <p:spPr>
          <a:xfrm>
            <a:off x="6812280" y="4754880"/>
            <a:ext cx="365760" cy="3657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81228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7315200" y="4736592"/>
            <a:ext cx="4050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6995160" y="5120640"/>
            <a:ext cx="0" cy="457200"/>
          </a:xfrm>
          <a:prstGeom prst="line">
            <a:avLst/>
          </a:prstGeom>
          <a:noFill/>
          <a:ln w="15875">
            <a:solidFill>
              <a:srgbClr val="3A5A85"/>
            </a:solidFill>
            <a:prstDash val="dash"/>
          </a:ln>
        </p:spPr>
      </p:sp>
      <p:sp>
        <p:nvSpPr>
          <p:cNvPr id="39" name="Shape 31"/>
          <p:cNvSpPr/>
          <p:nvPr/>
        </p:nvSpPr>
        <p:spPr>
          <a:xfrm>
            <a:off x="6812280" y="5577840"/>
            <a:ext cx="365760" cy="3657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812280" y="5577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7315200" y="5559552"/>
            <a:ext cx="4050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Try-On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VisionEdge (Opticals)  •  Review-1  •  MCA Project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Review-1 Deliverables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of Items Finalized for This Review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EAF2FA"/>
          </a:solidFill>
          <a:ln/>
        </p:spPr>
      </p:sp>
      <p:pic>
        <p:nvPicPr>
          <p:cNvPr id="5" name="Image 0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733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5448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Finalized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267712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EAF2FA"/>
          </a:solidFill>
          <a:ln/>
        </p:spPr>
      </p:sp>
      <p:pic>
        <p:nvPicPr>
          <p:cNvPr id="8" name="Image 1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86584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267712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Approved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2980944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EAF2FA"/>
          </a:solidFill>
          <a:ln/>
        </p:spPr>
      </p:sp>
      <p:pic>
        <p:nvPicPr>
          <p:cNvPr id="11" name="Image 2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99816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980944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Completed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3694176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EAF2FA"/>
          </a:solidFill>
          <a:ln/>
        </p:spPr>
      </p:sp>
      <p:pic>
        <p:nvPicPr>
          <p:cNvPr id="14" name="Image 3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1304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694176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Completed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48640" y="4407408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EAF2FA"/>
          </a:solidFill>
          <a:ln/>
        </p:spPr>
      </p:sp>
      <p:pic>
        <p:nvPicPr>
          <p:cNvPr id="17" name="Image 4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26280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407408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Finalized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7543800" y="1554480"/>
            <a:ext cx="4096512" cy="4709160"/>
          </a:xfrm>
          <a:prstGeom prst="roundRect">
            <a:avLst>
              <a:gd name="adj" fmla="val 2679"/>
            </a:avLst>
          </a:prstGeom>
          <a:solidFill>
            <a:srgbClr val="1B3A6B"/>
          </a:solidFill>
          <a:ln/>
        </p:spPr>
      </p:sp>
      <p:sp>
        <p:nvSpPr>
          <p:cNvPr id="20" name="Text 13"/>
          <p:cNvSpPr/>
          <p:nvPr/>
        </p:nvSpPr>
        <p:spPr>
          <a:xfrm>
            <a:off x="7543800" y="1874520"/>
            <a:ext cx="4096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</a:t>
            </a:r>
            <a:endParaRPr lang="en-US" sz="13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8586216" y="2194560"/>
          <a:ext cx="20116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 14"/>
          <p:cNvSpPr/>
          <p:nvPr/>
        </p:nvSpPr>
        <p:spPr>
          <a:xfrm>
            <a:off x="8586216" y="2697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600" dirty="0"/>
          </a:p>
        </p:txBody>
      </p:sp>
      <p:sp>
        <p:nvSpPr>
          <p:cNvPr id="23" name="Shape 15"/>
          <p:cNvSpPr/>
          <p:nvPr/>
        </p:nvSpPr>
        <p:spPr>
          <a:xfrm>
            <a:off x="7909560" y="4160520"/>
            <a:ext cx="3364992" cy="0"/>
          </a:xfrm>
          <a:prstGeom prst="line">
            <a:avLst/>
          </a:prstGeom>
          <a:noFill/>
          <a:ln w="12700">
            <a:solidFill>
              <a:srgbClr val="3A5A85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7543800" y="434340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8586216" y="466344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0E7C86"/>
          </a:solidFill>
          <a:ln/>
        </p:spPr>
      </p:sp>
      <p:sp>
        <p:nvSpPr>
          <p:cNvPr id="26" name="Text 18"/>
          <p:cNvSpPr/>
          <p:nvPr/>
        </p:nvSpPr>
        <p:spPr>
          <a:xfrm>
            <a:off x="8586216" y="4663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Review-1 Ready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7863840" y="5394960"/>
            <a:ext cx="3456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for full implementation in the next phase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VisionEdge (Opticals)  •  Review-1  •  MCA Project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3931920" cy="3931920"/>
          </a:xfrm>
          <a:prstGeom prst="ellipse">
            <a:avLst/>
          </a:prstGeom>
          <a:solidFill>
            <a:srgbClr val="1B3A6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5120640"/>
            <a:ext cx="3657600" cy="365760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5989320"/>
            <a:ext cx="10515600" cy="0"/>
          </a:xfrm>
          <a:prstGeom prst="line">
            <a:avLst/>
          </a:prstGeom>
          <a:noFill/>
          <a:ln w="12700">
            <a:solidFill>
              <a:srgbClr val="3A5A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06365" y="2440307"/>
            <a:ext cx="2451735" cy="1017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035040" y="6144768"/>
            <a:ext cx="5605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635</Words>
  <Application>Microsoft Office PowerPoint</Application>
  <PresentationFormat>Widescreen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RAVAL UMANG</cp:lastModifiedBy>
  <cp:revision>2</cp:revision>
  <dcterms:created xsi:type="dcterms:W3CDTF">2026-07-22T12:11:11Z</dcterms:created>
  <dcterms:modified xsi:type="dcterms:W3CDTF">2026-07-23T04:33:08Z</dcterms:modified>
</cp:coreProperties>
</file>