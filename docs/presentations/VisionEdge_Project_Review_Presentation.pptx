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4" r:id="rId6"/>
    <p:sldId id="302" r:id="rId7"/>
    <p:sldId id="303" r:id="rId8"/>
    <p:sldId id="261" r:id="rId9"/>
    <p:sldId id="262" r:id="rId10"/>
    <p:sldId id="263" r:id="rId11"/>
    <p:sldId id="282" r:id="rId12"/>
    <p:sldId id="265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67" r:id="rId35"/>
    <p:sldId id="268" r:id="rId36"/>
    <p:sldId id="295" r:id="rId37"/>
    <p:sldId id="296" r:id="rId38"/>
    <p:sldId id="297" r:id="rId39"/>
    <p:sldId id="298" r:id="rId40"/>
    <p:sldId id="299" r:id="rId41"/>
    <p:sldId id="300" r:id="rId42"/>
    <p:sldId id="270" r:id="rId43"/>
    <p:sldId id="271" r:id="rId44"/>
    <p:sldId id="301" r:id="rId45"/>
    <p:sldId id="27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41" autoAdjust="0"/>
  </p:normalViewPr>
  <p:slideViewPr>
    <p:cSldViewPr snapToGrid="0" snapToObjects="1">
      <p:cViewPr>
        <p:scale>
          <a:sx n="100" d="100"/>
          <a:sy n="100" d="100"/>
        </p:scale>
        <p:origin x="-14" y="-58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817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142030"/>
                </a:solidFill>
                <a:latin typeface="Aptos"/>
              </a:rPr>
              <a:t>VisionEdge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0">
                <a:solidFill>
                  <a:srgbClr val="142030"/>
                </a:solidFill>
                <a:latin typeface="Aptos"/>
              </a:rPr>
              <a:t>AI-Powered Optical Store Management &amp; Virtual Try-On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2030"/>
                </a:solidFill>
                <a:latin typeface="Aptos"/>
              </a:rPr>
              <a:t>Submitted By: Chaudhari Devanshu Dilipbhai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142030"/>
                </a:solidFill>
                <a:latin typeface="Aptos"/>
              </a:rPr>
              <a:t>Enrollment No.: 2504070100284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3548" y="4800600"/>
            <a:ext cx="320299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dirty="0">
                <a:solidFill>
                  <a:srgbClr val="142030"/>
                </a:solidFill>
                <a:latin typeface="Aptos"/>
              </a:rPr>
              <a:t>Course: M. C. A.
Project Guide: Ms. </a:t>
            </a:r>
            <a:r>
              <a:rPr lang="en-US" sz="1600" b="0" dirty="0">
                <a:solidFill>
                  <a:srgbClr val="142030"/>
                </a:solidFill>
                <a:latin typeface="Aptos"/>
              </a:rPr>
              <a:t>Manali Panchal</a:t>
            </a:r>
            <a:endParaRPr sz="1600" b="0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014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263A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0"/>
                </a:solidFill>
                <a:latin typeface="Aptos"/>
              </a:rPr>
              <a:t>Expected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263A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230756" cy="270843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42030"/>
                </a:solidFill>
                <a:latin typeface="Aptos"/>
              </a:defRPr>
            </a:pPr>
            <a:r>
              <a:rPr dirty="0"/>
              <a:t>ER Diagram</a:t>
            </a:r>
          </a:p>
          <a:p>
            <a:pPr>
              <a:spcAft>
                <a:spcPts val="1200"/>
              </a:spcAft>
              <a:defRPr sz="2000">
                <a:solidFill>
                  <a:srgbClr val="142030"/>
                </a:solidFill>
                <a:latin typeface="Aptos"/>
              </a:defRPr>
            </a:pPr>
            <a:r>
              <a:rPr dirty="0"/>
              <a:t>UML Diagrams</a:t>
            </a:r>
          </a:p>
          <a:p>
            <a:pPr>
              <a:spcAft>
                <a:spcPts val="1200"/>
              </a:spcAft>
              <a:defRPr sz="2000">
                <a:solidFill>
                  <a:srgbClr val="142030"/>
                </a:solidFill>
                <a:latin typeface="Aptos"/>
              </a:defRPr>
            </a:pPr>
            <a:r>
              <a:rPr dirty="0"/>
              <a:t>Database Design </a:t>
            </a:r>
          </a:p>
          <a:p>
            <a:pPr>
              <a:spcAft>
                <a:spcPts val="1200"/>
              </a:spcAft>
              <a:defRPr sz="2000">
                <a:solidFill>
                  <a:srgbClr val="142030"/>
                </a:solidFill>
                <a:latin typeface="Aptos"/>
              </a:defRPr>
            </a:pPr>
            <a:r>
              <a:rPr dirty="0"/>
              <a:t>UI Prototype &amp; Screen Flow</a:t>
            </a:r>
          </a:p>
          <a:p>
            <a:pPr>
              <a:spcAft>
                <a:spcPts val="1200"/>
              </a:spcAft>
              <a:defRPr sz="2000">
                <a:solidFill>
                  <a:srgbClr val="142030"/>
                </a:solidFill>
                <a:latin typeface="Aptos"/>
              </a:defRPr>
            </a:pPr>
            <a:r>
              <a:rPr dirty="0"/>
              <a:t>Module Planning</a:t>
            </a:r>
          </a:p>
          <a:p>
            <a:pPr>
              <a:spcAft>
                <a:spcPts val="1200"/>
              </a:spcAft>
              <a:defRPr sz="2000">
                <a:solidFill>
                  <a:srgbClr val="142030"/>
                </a:solidFill>
                <a:latin typeface="Aptos"/>
              </a:defRPr>
            </a:pPr>
            <a:r>
              <a:rPr dirty="0"/>
              <a:t>System Architecture / 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2303003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 err="1">
                <a:solidFill>
                  <a:srgbClr val="142030"/>
                </a:solidFill>
                <a:latin typeface="Aptos"/>
              </a:rPr>
              <a:t>VisionEdge</a:t>
            </a:r>
            <a:r>
              <a:rPr sz="2600" b="1" dirty="0">
                <a:solidFill>
                  <a:srgbClr val="142030"/>
                </a:solidFill>
                <a:latin typeface="Aptos"/>
              </a:rPr>
              <a:t> — </a:t>
            </a:r>
            <a:endParaRPr lang="en-GB" sz="2600" b="1" dirty="0">
              <a:solidFill>
                <a:srgbClr val="142030"/>
              </a:solidFill>
              <a:latin typeface="Aptos"/>
            </a:endParaRPr>
          </a:p>
          <a:p>
            <a:pPr algn="l"/>
            <a:r>
              <a:rPr sz="2600" b="1" dirty="0">
                <a:solidFill>
                  <a:srgbClr val="142030"/>
                </a:solidFill>
                <a:latin typeface="Aptos"/>
              </a:rPr>
              <a:t>ER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2263A5"/>
                </a:solidFill>
                <a:latin typeface="Aptos"/>
              </a:rPr>
              <a:t>03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4CF80B-E6A5-86D9-DC22-C8B3F6ED5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843" y="0"/>
            <a:ext cx="619895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0"/>
                </a:solidFill>
                <a:latin typeface="Aptos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0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4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40FE55-4DAF-E7FB-211A-412E532AC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530" y="548640"/>
            <a:ext cx="7072683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6934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30473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Sequence Diagram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0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5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3BC7D5-04D2-AA35-812D-5FE01FB5481E}"/>
              </a:ext>
            </a:extLst>
          </p:cNvPr>
          <p:cNvSpPr txBox="1"/>
          <p:nvPr/>
        </p:nvSpPr>
        <p:spPr>
          <a:xfrm>
            <a:off x="502920" y="992981"/>
            <a:ext cx="37966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142030"/>
                </a:solidFill>
                <a:latin typeface="Aptos"/>
              </a:rPr>
              <a:t>Sequence Diagram: 1)user side</a:t>
            </a:r>
            <a:endParaRPr sz="2000" b="1" dirty="0">
              <a:solidFill>
                <a:srgbClr val="142030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43081C-F8D6-481C-97C7-9BE063530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85" y="1393090"/>
            <a:ext cx="8817429" cy="54649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D2A6-648E-273B-D0D9-DA0984C44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C06BE4-91A8-5CC3-03C6-DCF7820B85AE}"/>
              </a:ext>
            </a:extLst>
          </p:cNvPr>
          <p:cNvSpPr/>
          <p:nvPr/>
        </p:nvSpPr>
        <p:spPr>
          <a:xfrm>
            <a:off x="0" y="32692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00B3A-AF3F-E66E-6E85-B4C9815D619D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D2BCD-F510-894B-B549-BF0C61628061}"/>
              </a:ext>
            </a:extLst>
          </p:cNvPr>
          <p:cNvSpPr txBox="1"/>
          <p:nvPr/>
        </p:nvSpPr>
        <p:spPr>
          <a:xfrm>
            <a:off x="502920" y="594360"/>
            <a:ext cx="30473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Sequence Diagram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8A5D4-AB5E-5668-E79F-FC4F95D47A6A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0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6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FD333-1BD6-E8FA-09E5-5CE6545B198C}"/>
              </a:ext>
            </a:extLst>
          </p:cNvPr>
          <p:cNvSpPr txBox="1"/>
          <p:nvPr/>
        </p:nvSpPr>
        <p:spPr>
          <a:xfrm>
            <a:off x="502920" y="992981"/>
            <a:ext cx="39408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142030"/>
                </a:solidFill>
                <a:latin typeface="Aptos"/>
              </a:rPr>
              <a:t>Sequence Diagram: 2)seller side</a:t>
            </a:r>
            <a:endParaRPr sz="2000" b="1" dirty="0">
              <a:solidFill>
                <a:srgbClr val="142030"/>
              </a:solidFill>
              <a:latin typeface="Apto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A4A1DE-2617-AFB0-B8B2-3674662BC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617" y="1393090"/>
            <a:ext cx="9076765" cy="546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3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0046C-071A-D2E5-1E67-AA6C3FFE5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70ECC2-CF8A-5A45-AB6F-01CE08CEEAA6}"/>
              </a:ext>
            </a:extLst>
          </p:cNvPr>
          <p:cNvSpPr/>
          <p:nvPr/>
        </p:nvSpPr>
        <p:spPr>
          <a:xfrm>
            <a:off x="-9832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10FB3-0A87-F999-436F-AB091F8A7F5A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BD33F-8B09-7144-20AA-E0BFFB34E21B}"/>
              </a:ext>
            </a:extLst>
          </p:cNvPr>
          <p:cNvSpPr txBox="1"/>
          <p:nvPr/>
        </p:nvSpPr>
        <p:spPr>
          <a:xfrm>
            <a:off x="502920" y="594360"/>
            <a:ext cx="304730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Sequence Diagram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E106F6-EB98-264D-C5D1-B1FE3E267F8D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0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7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F09F9-B4DA-A157-0EA4-FA402A569753}"/>
              </a:ext>
            </a:extLst>
          </p:cNvPr>
          <p:cNvSpPr txBox="1"/>
          <p:nvPr/>
        </p:nvSpPr>
        <p:spPr>
          <a:xfrm>
            <a:off x="502920" y="992981"/>
            <a:ext cx="393838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000" b="1" dirty="0">
                <a:solidFill>
                  <a:srgbClr val="142030"/>
                </a:solidFill>
                <a:latin typeface="Aptos"/>
              </a:rPr>
              <a:t>Sequence Diagram: 3)buyer side</a:t>
            </a:r>
            <a:endParaRPr sz="2000" b="1" dirty="0">
              <a:solidFill>
                <a:srgbClr val="142030"/>
              </a:solidFill>
              <a:latin typeface="Apto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D44FFB-5C4E-8D20-233D-6319514E3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821" y="1393090"/>
            <a:ext cx="9062357" cy="546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61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0"/>
                </a:solidFill>
                <a:latin typeface="Aptos"/>
              </a:rPr>
              <a:t>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0</a:t>
            </a:r>
            <a:r>
              <a:rPr lang="en-GB" sz="1100" dirty="0">
                <a:solidFill>
                  <a:srgbClr val="2263A5"/>
                </a:solidFill>
                <a:latin typeface="Aptos"/>
              </a:rPr>
              <a:t>8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3F9A23-4EC3-6753-EBC0-240A0A9DD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57" y="1143000"/>
            <a:ext cx="11862486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2981" y="594360"/>
            <a:ext cx="3441840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System Flow Diagram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100" b="0" dirty="0">
                <a:solidFill>
                  <a:srgbClr val="2263A5"/>
                </a:solidFill>
                <a:latin typeface="Aptos"/>
              </a:rPr>
              <a:t>09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C96FE1-71CA-511D-F7A4-082928631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17" y="1053548"/>
            <a:ext cx="8408505" cy="53472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266258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Activity Diagram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10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6F321-9CA1-4FFC-5179-08DC2C1DE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165" y="1086802"/>
            <a:ext cx="8935278" cy="55425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31777-B33F-CF57-66C0-4833B1B8E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232384-FA36-1422-71A1-06A05B3F2465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7F7B6E-F66E-B07B-01EA-B03CF7C09625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8C5A8-97E5-260D-541B-52958CC1072F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9D9E-F646-62E0-E265-ACC1B6531A90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1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5C5439-CA0B-1806-E23F-87A463A9A67E}"/>
              </a:ext>
            </a:extLst>
          </p:cNvPr>
          <p:cNvSpPr txBox="1"/>
          <p:nvPr/>
        </p:nvSpPr>
        <p:spPr>
          <a:xfrm>
            <a:off x="502920" y="992982"/>
            <a:ext cx="158429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1)user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0B541A-A46E-0B1A-4C45-AAC33AD49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904773"/>
              </p:ext>
            </p:extLst>
          </p:nvPr>
        </p:nvGraphicFramePr>
        <p:xfrm>
          <a:off x="502920" y="1485424"/>
          <a:ext cx="10489758" cy="47782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66831">
                  <a:extLst>
                    <a:ext uri="{9D8B030D-6E8A-4147-A177-3AD203B41FA5}">
                      <a16:colId xmlns:a16="http://schemas.microsoft.com/office/drawing/2014/main" val="3292368283"/>
                    </a:ext>
                  </a:extLst>
                </a:gridCol>
                <a:gridCol w="1529755">
                  <a:extLst>
                    <a:ext uri="{9D8B030D-6E8A-4147-A177-3AD203B41FA5}">
                      <a16:colId xmlns:a16="http://schemas.microsoft.com/office/drawing/2014/main" val="1523952280"/>
                    </a:ext>
                  </a:extLst>
                </a:gridCol>
                <a:gridCol w="3132358">
                  <a:extLst>
                    <a:ext uri="{9D8B030D-6E8A-4147-A177-3AD203B41FA5}">
                      <a16:colId xmlns:a16="http://schemas.microsoft.com/office/drawing/2014/main" val="2244337316"/>
                    </a:ext>
                  </a:extLst>
                </a:gridCol>
                <a:gridCol w="3860814">
                  <a:extLst>
                    <a:ext uri="{9D8B030D-6E8A-4147-A177-3AD203B41FA5}">
                      <a16:colId xmlns:a16="http://schemas.microsoft.com/office/drawing/2014/main" val="954912235"/>
                    </a:ext>
                  </a:extLst>
                </a:gridCol>
              </a:tblGrid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6497722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8529864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unique=True, nullable=False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Login username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4927809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first_name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First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993820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last_name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Last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5007722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password_hash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Secure password hash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9091771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email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unique=True, nullable=True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Email address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7759292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phone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 contact 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3854328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gender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Gender information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16993498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date_of_birth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 of birth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8071752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address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Address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1198318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role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default='customer'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Authorization role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9368908"/>
                  </a:ext>
                </a:extLst>
              </a:tr>
              <a:tr h="3675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5550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514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2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5F6552-F7D0-ED52-3725-3B959151BDDC}"/>
              </a:ext>
            </a:extLst>
          </p:cNvPr>
          <p:cNvSpPr txBox="1"/>
          <p:nvPr/>
        </p:nvSpPr>
        <p:spPr>
          <a:xfrm>
            <a:off x="502920" y="992982"/>
            <a:ext cx="198186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2)customer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A021129-1CA6-13F7-6216-A0EDA52D0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912355"/>
              </p:ext>
            </p:extLst>
          </p:nvPr>
        </p:nvGraphicFramePr>
        <p:xfrm>
          <a:off x="502920" y="1649896"/>
          <a:ext cx="10698480" cy="50453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140106417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203911878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1189237099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3934726668"/>
                    </a:ext>
                  </a:extLst>
                </a:gridCol>
              </a:tblGrid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6613634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825460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customer_code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 reference code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3509956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first_name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First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42621001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last_name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Last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2575446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gender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Gender information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8084665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date_of_birth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 of birth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3327083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 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8809404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phone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index=True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 contact 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4467010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alternate_phone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Alternate contact 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1859644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email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index=True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Email address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5520768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address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Address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056601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city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City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0496748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2941805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pincode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Postal code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7519024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occupation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Occupation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6547823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photo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 photo path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60663536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default='Active'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Current record 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8731426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Record creation timestamp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465848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updated_at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default=datetime.utcnow, onupdate=datetime.utcnow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Last update timestamp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5227872"/>
                  </a:ext>
                </a:extLst>
              </a:tr>
              <a:tr h="2319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created_by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db.ForeignKey('user.id')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User who created the record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3186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3F51-0BE6-2EA6-0C80-4262D3375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9DC5DB-299D-E12A-07C4-8D6D6DF5B491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5313E-D43E-6BF7-26C7-B90208040A22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B6B11-495A-EDB3-B377-15D4537A535B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5CDF1-3F1E-8EFB-9132-51BBCD0FD418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3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79EC3-C954-5690-DBC5-DCD4F8C5D2A1}"/>
              </a:ext>
            </a:extLst>
          </p:cNvPr>
          <p:cNvSpPr txBox="1"/>
          <p:nvPr/>
        </p:nvSpPr>
        <p:spPr>
          <a:xfrm>
            <a:off x="502920" y="992982"/>
            <a:ext cx="312486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3)Customer profile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A0033C-AEA4-ADAC-828D-034C889D3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507326"/>
              </p:ext>
            </p:extLst>
          </p:nvPr>
        </p:nvGraphicFramePr>
        <p:xfrm>
          <a:off x="502920" y="1485425"/>
          <a:ext cx="10698482" cy="491537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6">
                  <a:extLst>
                    <a:ext uri="{9D8B030D-6E8A-4147-A177-3AD203B41FA5}">
                      <a16:colId xmlns:a16="http://schemas.microsoft.com/office/drawing/2014/main" val="84988043"/>
                    </a:ext>
                  </a:extLst>
                </a:gridCol>
                <a:gridCol w="1560196">
                  <a:extLst>
                    <a:ext uri="{9D8B030D-6E8A-4147-A177-3AD203B41FA5}">
                      <a16:colId xmlns:a16="http://schemas.microsoft.com/office/drawing/2014/main" val="4293272215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633528224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2944325624"/>
                    </a:ext>
                  </a:extLst>
                </a:gridCol>
              </a:tblGrid>
              <a:tr h="6091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9641865"/>
                  </a:ext>
                </a:extLst>
              </a:tr>
              <a:tr h="6091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1010118"/>
                  </a:ext>
                </a:extLst>
              </a:tr>
              <a:tr h="12602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Integer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unique=True, 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Associated customer ID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5010283"/>
                  </a:ext>
                </a:extLst>
              </a:tr>
              <a:tr h="6091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blood_group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Blood group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1606870"/>
                  </a:ext>
                </a:extLst>
              </a:tr>
              <a:tr h="6091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eye_conditions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Known eye conditions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6728873"/>
                  </a:ext>
                </a:extLst>
              </a:tr>
              <a:tr h="6091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allergies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Known allergies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1933383"/>
                  </a:ext>
                </a:extLst>
              </a:tr>
              <a:tr h="6091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Additional notes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3783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30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C818C-3C0B-4619-933C-7B6A7424F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46EF30-FC49-1A57-3E1D-82BD7BF7C600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E772F4-BD4C-8D01-4320-C42BE054393B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249716-CB7B-A771-91B2-68387F90161E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8FC908-8FCB-2342-0526-57ABD534A4F5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4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1BB24-DFF4-B266-0985-D6B8772AE694}"/>
              </a:ext>
            </a:extLst>
          </p:cNvPr>
          <p:cNvSpPr txBox="1"/>
          <p:nvPr/>
        </p:nvSpPr>
        <p:spPr>
          <a:xfrm>
            <a:off x="502920" y="992982"/>
            <a:ext cx="262790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4)appointment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ED9C248-902E-1839-6EF3-97DFF68DC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51867"/>
              </p:ext>
            </p:extLst>
          </p:nvPr>
        </p:nvGraphicFramePr>
        <p:xfrm>
          <a:off x="502920" y="1580322"/>
          <a:ext cx="10698480" cy="4820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1511640194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4144717748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3428232422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1585864543"/>
                    </a:ext>
                  </a:extLst>
                </a:gridCol>
              </a:tblGrid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76865031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3955507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customer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47011627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appointment_date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Appointment 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0933812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appointment_time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Appointment 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50303345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appointment_type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Appointment category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3423292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doctor_name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Doctor / optometrist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7145355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default='Pending'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Current record 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7493150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Additional notes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7044625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4544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536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79305-F595-EE5C-D4CB-ACC0A726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C8FB43-2404-AE26-9D97-21AC64E696BC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227C5-6532-BD27-8439-4CB6E0C1CA96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A4779-4744-E7FE-52FA-F79DD86BC72A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4533A-A113-0105-2580-EC2397D63D7A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5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D447ED-6FA2-5716-B023-67A0CC054BA9}"/>
              </a:ext>
            </a:extLst>
          </p:cNvPr>
          <p:cNvSpPr txBox="1"/>
          <p:nvPr/>
        </p:nvSpPr>
        <p:spPr>
          <a:xfrm>
            <a:off x="502920" y="992982"/>
            <a:ext cx="181289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5)Eye test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31BB03-885F-4BE0-90A5-D54D79376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59569"/>
              </p:ext>
            </p:extLst>
          </p:nvPr>
        </p:nvGraphicFramePr>
        <p:xfrm>
          <a:off x="502920" y="1485426"/>
          <a:ext cx="10698480" cy="49153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475284474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2358497143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3916726097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701968078"/>
                    </a:ext>
                  </a:extLst>
                </a:gridCol>
              </a:tblGrid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3585880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5538438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customer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08905988"/>
                  </a:ext>
                </a:extLst>
              </a:tr>
              <a:tr h="7227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appointment_id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nullable=True, db.ForeignKey('appointment.id')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appointment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0080143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right_sphere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Right eye (OD) sphere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2509713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right_cylinder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Right eye (OD) cylinder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751329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right_axis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Right eye (OD) axis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97428187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left_sphere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Left eye (OS) sphere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72981686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left_cylinder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Left eye (OS) cylinder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9948181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left_axis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Left eye (OS) axis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6465438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pd_value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Pupillary distance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7009945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remarks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Clinical remarks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9235726"/>
                  </a:ext>
                </a:extLst>
              </a:tr>
              <a:tr h="3493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7908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39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8D999-91AE-56D9-0AE8-928C93B6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B787C3-A02F-B955-523E-6DD2683DC026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81500-F3DF-C874-63E5-ED58434516A2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DEAB0-8567-BCD9-2D04-75A9C5FB0D30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0EB1F-12AA-FC61-0CCF-55F7FFB685CB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6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A1BE56-F6FA-59E2-0AB9-D535492BECD6}"/>
              </a:ext>
            </a:extLst>
          </p:cNvPr>
          <p:cNvSpPr txBox="1"/>
          <p:nvPr/>
        </p:nvSpPr>
        <p:spPr>
          <a:xfrm>
            <a:off x="502920" y="992982"/>
            <a:ext cx="24291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6)prescription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81AB93-A1AE-4387-03AE-A2BFFF7F4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586068"/>
              </p:ext>
            </p:extLst>
          </p:nvPr>
        </p:nvGraphicFramePr>
        <p:xfrm>
          <a:off x="502920" y="1639956"/>
          <a:ext cx="10698480" cy="4760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3590673562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3874132177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64748301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1838713074"/>
                    </a:ext>
                  </a:extLst>
                </a:gridCol>
              </a:tblGrid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9563823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90201284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prescription_number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Prescription reference 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1658555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customer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6379183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eye_test_id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nullable=True, db.ForeignKey('eye_test.id')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eye test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8148439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add_power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Near add power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79997997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prescription_image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Uploaded prescription 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855709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ai_extracted_text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AI-extracted prescription 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11890034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confidence_score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AI extraction confidence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68576502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doctor_name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Doctor / optometrist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3830323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Record creation timestamp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14530415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1291041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expiry_date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Prescription expiry 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9022619"/>
                  </a:ext>
                </a:extLst>
              </a:tr>
              <a:tr h="340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default='Completed'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Current record status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5889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2066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E4076-F19F-663D-59D0-B96F65D7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F71FDA-7ACE-12A5-0B0D-3AFAB1631933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A20ED9-AF19-9B5D-0782-F6C074257630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E9BF8-7174-1B3C-2B17-2E87414DBB83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64F477-7614-5F48-856B-18B344235BD6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7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929FEC-204A-66F3-32C8-C961072185EE}"/>
              </a:ext>
            </a:extLst>
          </p:cNvPr>
          <p:cNvSpPr txBox="1"/>
          <p:nvPr/>
        </p:nvSpPr>
        <p:spPr>
          <a:xfrm>
            <a:off x="502920" y="992982"/>
            <a:ext cx="158429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7)frame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03DF15-652B-7ADF-E332-2081E3B48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386405"/>
              </p:ext>
            </p:extLst>
          </p:nvPr>
        </p:nvGraphicFramePr>
        <p:xfrm>
          <a:off x="502920" y="1485424"/>
          <a:ext cx="10698480" cy="4915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2647488514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2065863041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2454804128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4207701257"/>
                    </a:ext>
                  </a:extLst>
                </a:gridCol>
              </a:tblGrid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99272115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7731763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frame_code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Frame SKU/code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2143992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brand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Brand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7811686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model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Frame/lens model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4632016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Display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0369139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shape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Frame shape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5964835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color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Frame color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1253508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size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Frame size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386689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material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Frame material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1003863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gender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Gender information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005304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Retail 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657251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selling_price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Selling 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46305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stock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Current stock quantity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92298189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min_stock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default=5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Low-stock threshold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2131126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 image path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7150833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vto_image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Virtual Try-On image path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31249007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default='Available'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Current record 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6770356"/>
                  </a:ext>
                </a:extLst>
              </a:tr>
              <a:tr h="23330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Record creation timestamp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6549510"/>
                  </a:ext>
                </a:extLst>
              </a:tr>
              <a:tr h="48262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updated_at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default=datetime.utcnow, onupdate=datetime.utcnow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Last update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2213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86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6AA51-885E-2F9D-3D1B-4AFD5BF0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187BF5-8693-6DFA-C958-2DC4713525A4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E0BBA-7FA9-F4AD-7D9F-8F42E10F2A8F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10EE7-530D-BB0B-53A7-F6C3C0A00CA5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4A638-D0F4-74B1-B0BA-0FA473C0874E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8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0ECCB-58CF-25F5-85AA-E15A1FDC5507}"/>
              </a:ext>
            </a:extLst>
          </p:cNvPr>
          <p:cNvSpPr txBox="1"/>
          <p:nvPr/>
        </p:nvSpPr>
        <p:spPr>
          <a:xfrm>
            <a:off x="502920" y="992982"/>
            <a:ext cx="158429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8)lens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3214E2-CA2B-4104-4C23-8EED45963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33473"/>
              </p:ext>
            </p:extLst>
          </p:nvPr>
        </p:nvGraphicFramePr>
        <p:xfrm>
          <a:off x="502920" y="1560443"/>
          <a:ext cx="10698480" cy="48403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117532124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3008113079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2088271778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1264972340"/>
                    </a:ext>
                  </a:extLst>
                </a:gridCol>
              </a:tblGrid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4595859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6838000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lens_code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Lens SKU/code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2144457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Display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7643356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brand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Brand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8073741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 / lens 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4211740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lens_type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Lens type compatibility field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716099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coating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Lens coating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776410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Retail 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5528470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selling_price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Selling 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7871244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stock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Current stock quantity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9808696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min_stock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default=10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Low-stock threshold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4690106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 image path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4765797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default='Available'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Current record 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3593397"/>
                  </a:ext>
                </a:extLst>
              </a:tr>
              <a:tr h="3226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8510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98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08CD6-D03D-E825-02AF-507F1140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2CEFAB-7B8F-DD39-EDEA-83944A3F10B8}"/>
              </a:ext>
            </a:extLst>
          </p:cNvPr>
          <p:cNvSpPr/>
          <p:nvPr/>
        </p:nvSpPr>
        <p:spPr>
          <a:xfrm>
            <a:off x="0" y="19878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79A708-E59F-125F-D7F4-B4DDE749097E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0249B2-A678-F56B-AC6B-B628C08D56EA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D9286-16C4-1B7F-CB14-76F879DC01D4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9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45292-3843-B83D-D838-1ABA27709E9B}"/>
              </a:ext>
            </a:extLst>
          </p:cNvPr>
          <p:cNvSpPr txBox="1"/>
          <p:nvPr/>
        </p:nvSpPr>
        <p:spPr>
          <a:xfrm>
            <a:off x="502920" y="992982"/>
            <a:ext cx="1783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9)supplier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157C74-1C80-4235-8EB4-49E4A00966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030429"/>
              </p:ext>
            </p:extLst>
          </p:nvPr>
        </p:nvGraphicFramePr>
        <p:xfrm>
          <a:off x="596348" y="1639957"/>
          <a:ext cx="10605051" cy="26615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8447">
                  <a:extLst>
                    <a:ext uri="{9D8B030D-6E8A-4147-A177-3AD203B41FA5}">
                      <a16:colId xmlns:a16="http://schemas.microsoft.com/office/drawing/2014/main" val="826111608"/>
                    </a:ext>
                  </a:extLst>
                </a:gridCol>
                <a:gridCol w="1546570">
                  <a:extLst>
                    <a:ext uri="{9D8B030D-6E8A-4147-A177-3AD203B41FA5}">
                      <a16:colId xmlns:a16="http://schemas.microsoft.com/office/drawing/2014/main" val="3194658883"/>
                    </a:ext>
                  </a:extLst>
                </a:gridCol>
                <a:gridCol w="3166786">
                  <a:extLst>
                    <a:ext uri="{9D8B030D-6E8A-4147-A177-3AD203B41FA5}">
                      <a16:colId xmlns:a16="http://schemas.microsoft.com/office/drawing/2014/main" val="1080095948"/>
                    </a:ext>
                  </a:extLst>
                </a:gridCol>
                <a:gridCol w="3903248">
                  <a:extLst>
                    <a:ext uri="{9D8B030D-6E8A-4147-A177-3AD203B41FA5}">
                      <a16:colId xmlns:a16="http://schemas.microsoft.com/office/drawing/2014/main" val="936015409"/>
                    </a:ext>
                  </a:extLst>
                </a:gridCol>
              </a:tblGrid>
              <a:tr h="3802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2994331"/>
                  </a:ext>
                </a:extLst>
              </a:tr>
              <a:tr h="3802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6288660"/>
                  </a:ext>
                </a:extLst>
              </a:tr>
              <a:tr h="3802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Display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55886098"/>
                  </a:ext>
                </a:extLst>
              </a:tr>
              <a:tr h="3802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phone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 contact 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149810"/>
                  </a:ext>
                </a:extLst>
              </a:tr>
              <a:tr h="3802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email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Email address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2078643"/>
                  </a:ext>
                </a:extLst>
              </a:tr>
              <a:tr h="3802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address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Address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6226992"/>
                  </a:ext>
                </a:extLst>
              </a:tr>
              <a:tr h="3802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0536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116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A8502-CE5B-4029-6CE0-D9007B4E8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D7E1BE-0E6F-865B-3030-07356F73D697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5DB72-6F0B-B803-70D4-CC4FAEC54F3F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73E95-AD43-AD0F-1F54-8F8F67974726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73E7D-5FB2-ECE7-1F95-FBEC13C2CD82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dirty="0">
                <a:solidFill>
                  <a:srgbClr val="2263A5"/>
                </a:solidFill>
                <a:latin typeface="Aptos"/>
              </a:rPr>
              <a:t>2</a:t>
            </a:r>
            <a:r>
              <a:rPr sz="1100" b="0" dirty="0">
                <a:solidFill>
                  <a:srgbClr val="2263A5"/>
                </a:solidFill>
                <a:latin typeface="Aptos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D15C13-A116-1C31-269D-44C1A70E5402}"/>
              </a:ext>
            </a:extLst>
          </p:cNvPr>
          <p:cNvSpPr txBox="1"/>
          <p:nvPr/>
        </p:nvSpPr>
        <p:spPr>
          <a:xfrm>
            <a:off x="502920" y="992982"/>
            <a:ext cx="158429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10)order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305241-1E35-4047-075C-5BD71C06F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594587"/>
              </p:ext>
            </p:extLst>
          </p:nvPr>
        </p:nvGraphicFramePr>
        <p:xfrm>
          <a:off x="502920" y="1485424"/>
          <a:ext cx="10698480" cy="49153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729918503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696338006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2510397075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2298870007"/>
                    </a:ext>
                  </a:extLst>
                </a:gridCol>
              </a:tblGrid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2162916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1267266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order_id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order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7445392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order_number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Order reference 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49579837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customer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7153101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prescription_id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nullable=True, db.ForeignKey('prescription.id')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prescription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0074136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default='Pending'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Current record 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72006371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total_amount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default=0.0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 monetary amount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6501443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order_date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Order 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887598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4918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9299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42098-D64C-FD0E-5C25-E0BDE3EF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0C9974-C595-F9E0-6173-8EB029ECF271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37B80-467E-07A0-0338-9FDBE83405A0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BB66A-CABE-ED8B-CEFA-B690A5E52F21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975B1-2850-9B3C-9675-EFA352A02F79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2</a:t>
            </a:r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A698D-413B-996F-638D-8DE638C8D8F5}"/>
              </a:ext>
            </a:extLst>
          </p:cNvPr>
          <p:cNvSpPr txBox="1"/>
          <p:nvPr/>
        </p:nvSpPr>
        <p:spPr>
          <a:xfrm>
            <a:off x="502920" y="992982"/>
            <a:ext cx="23197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11)Order item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A723DD-0842-1BEB-17F5-4B96F3504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268440"/>
              </p:ext>
            </p:extLst>
          </p:nvPr>
        </p:nvGraphicFramePr>
        <p:xfrm>
          <a:off x="502920" y="1485424"/>
          <a:ext cx="10698480" cy="49153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50958298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535416367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1909964384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365425614"/>
                    </a:ext>
                  </a:extLst>
                </a:gridCol>
              </a:tblGrid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7270910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6323477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order_id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db.ForeignKey('order.id')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order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5829865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product_type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 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5939253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item_type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Compatibility item 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2961670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Referenced product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0775070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item_id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Compatibility item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6284484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quantity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default=1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Quantity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7298832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Retail 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5118210"/>
                  </a:ext>
                </a:extLst>
              </a:tr>
              <a:tr h="491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total_price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Line total price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583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7682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CE9C-3D96-A589-527B-1FEBDFFF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2A4FC1-DC5E-7FEE-ADF3-6EA0D2D8E20D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EA269-61B5-E5DC-468E-56A9651ED2CA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E43A7-42B5-7CB2-667C-4156C0C26481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6123B-EC44-8886-1C13-95EB5B11DC02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dirty="0">
                <a:solidFill>
                  <a:srgbClr val="2263A5"/>
                </a:solidFill>
                <a:latin typeface="Aptos"/>
              </a:rPr>
              <a:t>22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E1DF04-9775-4771-3639-2AE7485F2BE1}"/>
              </a:ext>
            </a:extLst>
          </p:cNvPr>
          <p:cNvSpPr txBox="1"/>
          <p:nvPr/>
        </p:nvSpPr>
        <p:spPr>
          <a:xfrm>
            <a:off x="502920" y="992982"/>
            <a:ext cx="23197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12)billing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90C33F-2D3A-304B-7608-6DF278160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740461"/>
              </p:ext>
            </p:extLst>
          </p:nvPr>
        </p:nvGraphicFramePr>
        <p:xfrm>
          <a:off x="502920" y="1485424"/>
          <a:ext cx="10698480" cy="4915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4">
                  <a:extLst>
                    <a:ext uri="{9D8B030D-6E8A-4147-A177-3AD203B41FA5}">
                      <a16:colId xmlns:a16="http://schemas.microsoft.com/office/drawing/2014/main" val="4029883100"/>
                    </a:ext>
                  </a:extLst>
                </a:gridCol>
                <a:gridCol w="1560196">
                  <a:extLst>
                    <a:ext uri="{9D8B030D-6E8A-4147-A177-3AD203B41FA5}">
                      <a16:colId xmlns:a16="http://schemas.microsoft.com/office/drawing/2014/main" val="3016642984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2591247717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714084022"/>
                    </a:ext>
                  </a:extLst>
                </a:gridCol>
              </a:tblGrid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757873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Integer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891126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invoice_number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unique=True, 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Invoice number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2035536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order_id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db.ForeignKey('order.id')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order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641631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subtotal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default=0.0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Subtotal before discount/tax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17584642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discount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default=0.0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Discount amount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30557756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gst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default=0.0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GST amount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47635958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total_amount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Total monetary amount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6034104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payment_status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default='Pending'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Payment 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083540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payment_method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Payment method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7942237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invoice_pdf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Generated invoice PDF path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1526744"/>
                  </a:ext>
                </a:extLst>
              </a:tr>
              <a:tr h="4096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8016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545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0F58-9DA2-E8EC-2A49-249B9151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0F5EC0-BC59-A7DB-D1BC-AFE9B1E79F9B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7567E-B423-FBDA-DC15-B1764A338C52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3183F-7E2C-BD03-4CA7-C3BA7C716601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F1026-7878-5BDD-8D7F-D8F3DCD0AA64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23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65B15A-E090-793B-93D9-BC0FA669A5CE}"/>
              </a:ext>
            </a:extLst>
          </p:cNvPr>
          <p:cNvSpPr txBox="1"/>
          <p:nvPr/>
        </p:nvSpPr>
        <p:spPr>
          <a:xfrm>
            <a:off x="502920" y="992982"/>
            <a:ext cx="23197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13)payment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F3561B-EEE3-80C1-4AAF-4E5C96681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509268"/>
              </p:ext>
            </p:extLst>
          </p:nvPr>
        </p:nvGraphicFramePr>
        <p:xfrm>
          <a:off x="502920" y="1580322"/>
          <a:ext cx="10698480" cy="2721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3326062492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3799374435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1681102062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447898937"/>
                    </a:ext>
                  </a:extLst>
                </a:gridCol>
              </a:tblGrid>
              <a:tr h="3887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6759109"/>
                  </a:ext>
                </a:extLst>
              </a:tr>
              <a:tr h="3887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80858640"/>
                  </a:ext>
                </a:extLst>
              </a:tr>
              <a:tr h="3887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billing_id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db.ForeignKey('billing.id')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billing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4186391"/>
                  </a:ext>
                </a:extLst>
              </a:tr>
              <a:tr h="3887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amount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Payment amount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0371909"/>
                  </a:ext>
                </a:extLst>
              </a:tr>
              <a:tr h="3887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transaction_id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Transaction reference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471300"/>
                  </a:ext>
                </a:extLst>
              </a:tr>
              <a:tr h="3887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payment_method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Payment method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3493957"/>
                  </a:ext>
                </a:extLst>
              </a:tr>
              <a:tr h="3887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payment_date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Payment date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29391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0071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0DA4E-0023-003B-4E74-8DF585EE5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67635A-68F1-84CF-AA72-08F0A99F3F03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B62A4C-05A2-8526-80AD-6D6A69674847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94EC3-A2B3-68AA-D064-DE1CDD42F426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CCE8F-5BB2-E16C-AA93-80880E6E0AB8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24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C2BBAA-489A-07F7-17DF-F348C63B3CD6}"/>
              </a:ext>
            </a:extLst>
          </p:cNvPr>
          <p:cNvSpPr txBox="1"/>
          <p:nvPr/>
        </p:nvSpPr>
        <p:spPr>
          <a:xfrm>
            <a:off x="502920" y="992982"/>
            <a:ext cx="401938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14)Lens </a:t>
            </a:r>
            <a:r>
              <a:rPr lang="en-US" sz="2600" b="1" dirty="0" err="1">
                <a:solidFill>
                  <a:srgbClr val="142030"/>
                </a:solidFill>
                <a:latin typeface="Aptos"/>
              </a:rPr>
              <a:t>recommedation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6F9573-5D6F-C97D-6F6F-4F538E55B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297013"/>
              </p:ext>
            </p:extLst>
          </p:nvPr>
        </p:nvGraphicFramePr>
        <p:xfrm>
          <a:off x="502920" y="1531145"/>
          <a:ext cx="10698480" cy="2832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6">
                  <a:extLst>
                    <a:ext uri="{9D8B030D-6E8A-4147-A177-3AD203B41FA5}">
                      <a16:colId xmlns:a16="http://schemas.microsoft.com/office/drawing/2014/main" val="751383402"/>
                    </a:ext>
                  </a:extLst>
                </a:gridCol>
                <a:gridCol w="1560194">
                  <a:extLst>
                    <a:ext uri="{9D8B030D-6E8A-4147-A177-3AD203B41FA5}">
                      <a16:colId xmlns:a16="http://schemas.microsoft.com/office/drawing/2014/main" val="2715988033"/>
                    </a:ext>
                  </a:extLst>
                </a:gridCol>
                <a:gridCol w="3194686">
                  <a:extLst>
                    <a:ext uri="{9D8B030D-6E8A-4147-A177-3AD203B41FA5}">
                      <a16:colId xmlns:a16="http://schemas.microsoft.com/office/drawing/2014/main" val="3555185722"/>
                    </a:ext>
                  </a:extLst>
                </a:gridCol>
                <a:gridCol w="3937634">
                  <a:extLst>
                    <a:ext uri="{9D8B030D-6E8A-4147-A177-3AD203B41FA5}">
                      <a16:colId xmlns:a16="http://schemas.microsoft.com/office/drawing/2014/main" val="1902937012"/>
                    </a:ext>
                  </a:extLst>
                </a:gridCol>
              </a:tblGrid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369449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primary_key</a:t>
                      </a:r>
                      <a:r>
                        <a:rPr lang="en-US" sz="1200" dirty="0">
                          <a:effectLst/>
                        </a:rPr>
                        <a:t>=True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33698248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customer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5974523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prescription_id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db.ForeignKey('prescription.id')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prescription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42669338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recommended_lens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Recommended Lens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07140859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reason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Transaction reason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215990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ai_response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Ai Response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0268618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29398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964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ECC2-9FA7-EA5A-7633-B7671886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07C3E1-73C5-48AC-6ABD-41191BCB8DE5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6CB67-50F5-313F-F455-9E793EADDD2D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58FF1-5BEF-F6C5-E443-DC3234C74AE3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524FA-B055-8FD8-EC35-31F375ED0A73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25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E00A1-F26F-2420-1DFE-FAFA1208DCDA}"/>
              </a:ext>
            </a:extLst>
          </p:cNvPr>
          <p:cNvSpPr txBox="1"/>
          <p:nvPr/>
        </p:nvSpPr>
        <p:spPr>
          <a:xfrm>
            <a:off x="502920" y="992982"/>
            <a:ext cx="43473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15)Frame </a:t>
            </a:r>
            <a:r>
              <a:rPr lang="en-US" sz="2600" b="1" dirty="0" err="1">
                <a:solidFill>
                  <a:srgbClr val="142030"/>
                </a:solidFill>
                <a:latin typeface="Aptos"/>
              </a:rPr>
              <a:t>recommedation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30C680-66A2-0A3E-8ED7-DAFE64A5C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317209"/>
              </p:ext>
            </p:extLst>
          </p:nvPr>
        </p:nvGraphicFramePr>
        <p:xfrm>
          <a:off x="502920" y="1531145"/>
          <a:ext cx="10698480" cy="28955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181180561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2174687434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1534322785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3376200703"/>
                    </a:ext>
                  </a:extLst>
                </a:gridCol>
              </a:tblGrid>
              <a:tr h="321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9247105"/>
                  </a:ext>
                </a:extLst>
              </a:tr>
              <a:tr h="321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9826391"/>
                  </a:ext>
                </a:extLst>
              </a:tr>
              <a:tr h="321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customer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35476881"/>
                  </a:ext>
                </a:extLst>
              </a:tr>
              <a:tr h="321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face_shape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Detected face shape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6315629"/>
                  </a:ext>
                </a:extLst>
              </a:tr>
              <a:tr h="321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face_image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Face 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9207854"/>
                  </a:ext>
                </a:extLst>
              </a:tr>
              <a:tr h="321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recommended_frames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Recommended Frames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93716721"/>
                  </a:ext>
                </a:extLst>
              </a:tr>
              <a:tr h="321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selected_frame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Selected Frame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9273664"/>
                  </a:ext>
                </a:extLst>
              </a:tr>
              <a:tr h="321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ai_reason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Ai Reason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5378743"/>
                  </a:ext>
                </a:extLst>
              </a:tr>
              <a:tr h="32172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7191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327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40134-2FAA-548E-B186-29EF714A2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82A0AA-F743-3093-E363-C1DC544F488C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B7F6A-1980-2FAE-754C-0F585204FAC1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967DD-3EB2-2C06-2531-3A6C5B7E6385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8F10F8-9DEC-535A-A140-19B05422F543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26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6173F7-24BB-7FAE-22BD-3B4429852E44}"/>
              </a:ext>
            </a:extLst>
          </p:cNvPr>
          <p:cNvSpPr txBox="1"/>
          <p:nvPr/>
        </p:nvSpPr>
        <p:spPr>
          <a:xfrm>
            <a:off x="502920" y="992982"/>
            <a:ext cx="374108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16)Virtual try on history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2095F41-54E7-8CA8-56BE-32244FA48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81896"/>
              </p:ext>
            </p:extLst>
          </p:nvPr>
        </p:nvGraphicFramePr>
        <p:xfrm>
          <a:off x="502920" y="1531145"/>
          <a:ext cx="10698482" cy="2832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6">
                  <a:extLst>
                    <a:ext uri="{9D8B030D-6E8A-4147-A177-3AD203B41FA5}">
                      <a16:colId xmlns:a16="http://schemas.microsoft.com/office/drawing/2014/main" val="834112417"/>
                    </a:ext>
                  </a:extLst>
                </a:gridCol>
                <a:gridCol w="1560196">
                  <a:extLst>
                    <a:ext uri="{9D8B030D-6E8A-4147-A177-3AD203B41FA5}">
                      <a16:colId xmlns:a16="http://schemas.microsoft.com/office/drawing/2014/main" val="2168978437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3741247153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3314686852"/>
                    </a:ext>
                  </a:extLst>
                </a:gridCol>
              </a:tblGrid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7498351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4225902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customer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6423570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frame_id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db.ForeignKey('frame.id')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Recommended frame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9245144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original_image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Original 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4278862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generated_image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Generated 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0247256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tryon_image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Tryon Image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05870634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826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691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66FD-45AA-0E03-D32A-76890780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619BB1-FB0F-556A-BE0F-A27B6C298FC9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8EC38-6C0C-7A3B-4B7A-37618D9456F2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E048B-72A0-EB60-813E-BE9A3958707F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266975-1CEA-D334-1922-DB7E7292071D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27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8B740A-D718-AF76-49A8-81DC13747386}"/>
              </a:ext>
            </a:extLst>
          </p:cNvPr>
          <p:cNvSpPr txBox="1"/>
          <p:nvPr/>
        </p:nvSpPr>
        <p:spPr>
          <a:xfrm>
            <a:off x="502920" y="992982"/>
            <a:ext cx="261796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17)Chat history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D33E6B-2B81-DBB7-FEB9-403901D635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131882"/>
              </p:ext>
            </p:extLst>
          </p:nvPr>
        </p:nvGraphicFramePr>
        <p:xfrm>
          <a:off x="502920" y="1485425"/>
          <a:ext cx="10698480" cy="28160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1082533229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3461462063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1912891020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3063264142"/>
                    </a:ext>
                  </a:extLst>
                </a:gridCol>
              </a:tblGrid>
              <a:tr h="402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9839478"/>
                  </a:ext>
                </a:extLst>
              </a:tr>
              <a:tr h="402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28497088"/>
                  </a:ext>
                </a:extLst>
              </a:tr>
              <a:tr h="402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db.ForeignKey('user.id')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1053060"/>
                  </a:ext>
                </a:extLst>
              </a:tr>
              <a:tr h="402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nullable=True, 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customer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9642005"/>
                  </a:ext>
                </a:extLst>
              </a:tr>
              <a:tr h="402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question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Question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280219"/>
                  </a:ext>
                </a:extLst>
              </a:tr>
              <a:tr h="402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answer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Answer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7386317"/>
                  </a:ext>
                </a:extLst>
              </a:tr>
              <a:tr h="4022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84560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988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61C0-D3E3-E324-17D7-605D6BD5B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35691B-8DCC-C499-71FE-425087E68AD8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A84D2-50CC-C86D-44BE-710643AC8D99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1C618-E047-9686-DF4A-55B2627E453E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8C8E5-F449-0FA8-323A-B715577033A0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dirty="0">
                <a:solidFill>
                  <a:srgbClr val="2263A5"/>
                </a:solidFill>
                <a:latin typeface="Aptos"/>
              </a:rPr>
              <a:t>28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0228C4-799F-E3F1-B472-376ED4096B3F}"/>
              </a:ext>
            </a:extLst>
          </p:cNvPr>
          <p:cNvSpPr txBox="1"/>
          <p:nvPr/>
        </p:nvSpPr>
        <p:spPr>
          <a:xfrm>
            <a:off x="502920" y="992982"/>
            <a:ext cx="257821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18)notification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AEA09E-965F-86AD-6844-F1CE2E7C4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15722"/>
              </p:ext>
            </p:extLst>
          </p:nvPr>
        </p:nvGraphicFramePr>
        <p:xfrm>
          <a:off x="502920" y="1485425"/>
          <a:ext cx="10698480" cy="29412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739509765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1950376383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873847824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1524587834"/>
                    </a:ext>
                  </a:extLst>
                </a:gridCol>
              </a:tblGrid>
              <a:tr h="326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9677515"/>
                  </a:ext>
                </a:extLst>
              </a:tr>
              <a:tr h="326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0877409"/>
                  </a:ext>
                </a:extLst>
              </a:tr>
              <a:tr h="326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nullable=True, db.ForeignKey('user.id')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2970111"/>
                  </a:ext>
                </a:extLst>
              </a:tr>
              <a:tr h="326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customer_id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nullable=True, db.ForeignKey('customer.id')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customer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872644"/>
                  </a:ext>
                </a:extLst>
              </a:tr>
              <a:tr h="326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notification_type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Notification 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7522553"/>
                  </a:ext>
                </a:extLst>
              </a:tr>
              <a:tr h="326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title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Notification title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4700011"/>
                  </a:ext>
                </a:extLst>
              </a:tr>
              <a:tr h="326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message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Chat/notification message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3900537"/>
                  </a:ext>
                </a:extLst>
              </a:tr>
              <a:tr h="326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default='Unread'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Current record 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5855595"/>
                  </a:ext>
                </a:extLst>
              </a:tr>
              <a:tr h="32680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3111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695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78DD-45AE-F822-45FD-C6B914506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93EC55-C0D1-68C9-3229-76D92592BA3C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A9A71-CDB0-5F7F-D5FB-7501B3D9A5A1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43821-D1B6-D415-5C08-9908B4FDEC3F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30C44-173F-D92C-5515-073827165299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29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0ECD55-8900-9A19-E780-D40BF3586C74}"/>
              </a:ext>
            </a:extLst>
          </p:cNvPr>
          <p:cNvSpPr txBox="1"/>
          <p:nvPr/>
        </p:nvSpPr>
        <p:spPr>
          <a:xfrm>
            <a:off x="502920" y="992982"/>
            <a:ext cx="23197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19)Audit log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0FEF756-9595-87C2-2E66-E23C2929D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824089"/>
              </p:ext>
            </p:extLst>
          </p:nvPr>
        </p:nvGraphicFramePr>
        <p:xfrm>
          <a:off x="502920" y="1560443"/>
          <a:ext cx="10698480" cy="26784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3586689648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570231311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1328766900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697138591"/>
                    </a:ext>
                  </a:extLst>
                </a:gridCol>
              </a:tblGrid>
              <a:tr h="446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0805863"/>
                  </a:ext>
                </a:extLst>
              </a:tr>
              <a:tr h="446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50477473"/>
                  </a:ext>
                </a:extLst>
              </a:tr>
              <a:tr h="446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db.ForeignKey('user.id')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User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9944306"/>
                  </a:ext>
                </a:extLst>
              </a:tr>
              <a:tr h="446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Audit action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38730916"/>
                  </a:ext>
                </a:extLst>
              </a:tr>
              <a:tr h="446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module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Module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1618524"/>
                  </a:ext>
                </a:extLst>
              </a:tr>
              <a:tr h="446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timestamp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5786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804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3698-16B3-03DC-2D26-48006956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511160-4661-0A4E-C4D6-03647588BEF6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7D24E-CDEF-91C7-A877-F28B68168A44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1B096-7DCD-821E-E90E-C2749B5C58FC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6439B-517E-4ED9-FDC5-409A765421C9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dirty="0">
                <a:solidFill>
                  <a:srgbClr val="2263A5"/>
                </a:solidFill>
                <a:latin typeface="Aptos"/>
              </a:rPr>
              <a:t>3</a:t>
            </a:r>
            <a:r>
              <a:rPr sz="1100" b="0" dirty="0">
                <a:solidFill>
                  <a:srgbClr val="2263A5"/>
                </a:solidFill>
                <a:latin typeface="Aptos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F71CE0-CEA8-0A10-280F-675C3AC6522F}"/>
              </a:ext>
            </a:extLst>
          </p:cNvPr>
          <p:cNvSpPr txBox="1"/>
          <p:nvPr/>
        </p:nvSpPr>
        <p:spPr>
          <a:xfrm>
            <a:off x="502920" y="992982"/>
            <a:ext cx="23197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20)brand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B7CBADD-6CDA-7F3F-43E6-0655D69B03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971151"/>
              </p:ext>
            </p:extLst>
          </p:nvPr>
        </p:nvGraphicFramePr>
        <p:xfrm>
          <a:off x="502920" y="1485425"/>
          <a:ext cx="10698480" cy="25655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3079723316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2195078471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1499012777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675633954"/>
                    </a:ext>
                  </a:extLst>
                </a:gridCol>
              </a:tblGrid>
              <a:tr h="8551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87845710"/>
                  </a:ext>
                </a:extLst>
              </a:tr>
              <a:tr h="8551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77567992"/>
                  </a:ext>
                </a:extLst>
              </a:tr>
              <a:tr h="8551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Display name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8296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8766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A0BC0-C0D0-0442-FC48-72B18593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981C59-C827-0B84-E2B2-C6816795928D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B0BDB0-0660-D201-834F-3BF113779AF1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FC5CF-1C05-B527-C4D4-95B7DFE56725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C90DA-97CF-0670-C98F-E3F1952E8336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3</a:t>
            </a:r>
            <a:r>
              <a:rPr sz="1100" b="0" dirty="0">
                <a:solidFill>
                  <a:srgbClr val="2263A5"/>
                </a:solidFill>
                <a:latin typeface="Aptos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32DA47-38F6-35C0-3549-199E87DF88FC}"/>
              </a:ext>
            </a:extLst>
          </p:cNvPr>
          <p:cNvSpPr txBox="1"/>
          <p:nvPr/>
        </p:nvSpPr>
        <p:spPr>
          <a:xfrm>
            <a:off x="502920" y="992982"/>
            <a:ext cx="23197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21)category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D5A8A96-CE02-EB08-E846-0D22D3CF7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682639"/>
              </p:ext>
            </p:extLst>
          </p:nvPr>
        </p:nvGraphicFramePr>
        <p:xfrm>
          <a:off x="502920" y="1485425"/>
          <a:ext cx="10698480" cy="25655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4201533234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3191443638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2511748918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2852021012"/>
                    </a:ext>
                  </a:extLst>
                </a:gridCol>
              </a:tblGrid>
              <a:tr h="8551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5209474"/>
                  </a:ext>
                </a:extLst>
              </a:tr>
              <a:tr h="8551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46049336"/>
                  </a:ext>
                </a:extLst>
              </a:tr>
              <a:tr h="8551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Display name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436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7942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1771-16B9-F5B2-1A18-F9DE580DA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2A029E-42D9-437D-E3A8-E62CD2407344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6EE41-530A-811A-28BD-931A6B78F5A6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F2316-85B7-CB7D-E287-61491F1F07D0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859B1D-4D41-995B-1A52-11BA36E30021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32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1C34F1-727A-EB61-2DA6-7FD71337E885}"/>
              </a:ext>
            </a:extLst>
          </p:cNvPr>
          <p:cNvSpPr txBox="1"/>
          <p:nvPr/>
        </p:nvSpPr>
        <p:spPr>
          <a:xfrm>
            <a:off x="502920" y="992982"/>
            <a:ext cx="386035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22)Inventory transaction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958A3A-915B-4681-0A6B-A0D89FC4F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394648"/>
              </p:ext>
            </p:extLst>
          </p:nvPr>
        </p:nvGraphicFramePr>
        <p:xfrm>
          <a:off x="502920" y="1531145"/>
          <a:ext cx="10698480" cy="2832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1189807273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2424838348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2035423791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4114419683"/>
                    </a:ext>
                  </a:extLst>
                </a:gridCol>
              </a:tblGrid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7922060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82990133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product_type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 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7771899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product_id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Referenced product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3881694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transaction_type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Inventory transaction 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50213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quantity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Quantity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6195411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Additional notes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90655941"/>
                  </a:ext>
                </a:extLst>
              </a:tr>
              <a:tr h="3541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28172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013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DF8F-EC52-F5F1-4BAD-F90BE987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2DCB10-6140-EC26-ACBC-F0E570EC9F28}"/>
              </a:ext>
            </a:extLst>
          </p:cNvPr>
          <p:cNvSpPr/>
          <p:nvPr/>
        </p:nvSpPr>
        <p:spPr>
          <a:xfrm>
            <a:off x="0" y="9939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2038C-3E48-3648-E539-0465B78F2245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AC00D-5CA2-0767-6BCB-2D5604C3A587}"/>
              </a:ext>
            </a:extLst>
          </p:cNvPr>
          <p:cNvSpPr txBox="1"/>
          <p:nvPr/>
        </p:nvSpPr>
        <p:spPr>
          <a:xfrm>
            <a:off x="502920" y="594360"/>
            <a:ext cx="275370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Database Design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9B5B9-DD8A-1DF1-C53F-E960A4E189B6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33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38DBC-A1AD-A1F4-09DE-D5C642F160BC}"/>
              </a:ext>
            </a:extLst>
          </p:cNvPr>
          <p:cNvSpPr txBox="1"/>
          <p:nvPr/>
        </p:nvSpPr>
        <p:spPr>
          <a:xfrm>
            <a:off x="502920" y="992982"/>
            <a:ext cx="363175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23)Order status history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53AE5C-7808-DD71-7A4C-0568D97FC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594069"/>
              </p:ext>
            </p:extLst>
          </p:nvPr>
        </p:nvGraphicFramePr>
        <p:xfrm>
          <a:off x="502920" y="1531145"/>
          <a:ext cx="10698480" cy="27077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5965">
                  <a:extLst>
                    <a:ext uri="{9D8B030D-6E8A-4147-A177-3AD203B41FA5}">
                      <a16:colId xmlns:a16="http://schemas.microsoft.com/office/drawing/2014/main" val="1365274296"/>
                    </a:ext>
                  </a:extLst>
                </a:gridCol>
                <a:gridCol w="1560195">
                  <a:extLst>
                    <a:ext uri="{9D8B030D-6E8A-4147-A177-3AD203B41FA5}">
                      <a16:colId xmlns:a16="http://schemas.microsoft.com/office/drawing/2014/main" val="2131534294"/>
                    </a:ext>
                  </a:extLst>
                </a:gridCol>
                <a:gridCol w="3194685">
                  <a:extLst>
                    <a:ext uri="{9D8B030D-6E8A-4147-A177-3AD203B41FA5}">
                      <a16:colId xmlns:a16="http://schemas.microsoft.com/office/drawing/2014/main" val="2886049725"/>
                    </a:ext>
                  </a:extLst>
                </a:gridCol>
                <a:gridCol w="3937635">
                  <a:extLst>
                    <a:ext uri="{9D8B030D-6E8A-4147-A177-3AD203B41FA5}">
                      <a16:colId xmlns:a16="http://schemas.microsoft.com/office/drawing/2014/main" val="485379270"/>
                    </a:ext>
                  </a:extLst>
                </a:gridCol>
              </a:tblGrid>
              <a:tr h="451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Field Name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Datatype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Constraints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Description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96918871"/>
                  </a:ext>
                </a:extLst>
              </a:tr>
              <a:tr h="451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primary_key=True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Unique identifier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17657708"/>
                  </a:ext>
                </a:extLst>
              </a:tr>
              <a:tr h="451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order_id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nullable=False, db.ForeignKey('order.id')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Associated order ID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0174068"/>
                  </a:ext>
                </a:extLst>
              </a:tr>
              <a:tr h="451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String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Current record status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2512139"/>
                  </a:ext>
                </a:extLst>
              </a:tr>
              <a:tr h="451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Text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—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Additional notes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6982878"/>
                  </a:ext>
                </a:extLst>
              </a:tr>
              <a:tr h="45128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created_at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DateTime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default=datetime.utcnow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Record creation timestamp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2768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628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230325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42030"/>
                </a:solidFill>
                <a:latin typeface="Aptos"/>
              </a:rPr>
              <a:t>UI Prototypes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34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42030"/>
                </a:solidFill>
                <a:latin typeface="Aptos"/>
              </a:defRPr>
            </a:pPr>
            <a:r>
              <a:rPr dirty="0"/>
              <a:t>Landing Page → Login / Sign Up</a:t>
            </a:r>
          </a:p>
          <a:p>
            <a:pPr>
              <a:spcAft>
                <a:spcPts val="1200"/>
              </a:spcAft>
              <a:defRPr sz="1800">
                <a:solidFill>
                  <a:srgbClr val="142030"/>
                </a:solidFill>
                <a:latin typeface="Aptos"/>
              </a:defRPr>
            </a:pPr>
            <a:r>
              <a:rPr dirty="0"/>
              <a:t>Customer Dashboard → Products → Product Details</a:t>
            </a:r>
          </a:p>
          <a:p>
            <a:pPr>
              <a:spcAft>
                <a:spcPts val="1200"/>
              </a:spcAft>
              <a:defRPr sz="1800">
                <a:solidFill>
                  <a:srgbClr val="142030"/>
                </a:solidFill>
                <a:latin typeface="Aptos"/>
              </a:defRPr>
            </a:pPr>
            <a:r>
              <a:rPr dirty="0"/>
              <a:t>Cart → Checkout → QR Invoice / Billing</a:t>
            </a:r>
          </a:p>
          <a:p>
            <a:pPr>
              <a:spcAft>
                <a:spcPts val="1200"/>
              </a:spcAft>
              <a:defRPr sz="1800">
                <a:solidFill>
                  <a:srgbClr val="142030"/>
                </a:solidFill>
                <a:latin typeface="Aptos"/>
              </a:defRPr>
            </a:pPr>
            <a:r>
              <a:rPr dirty="0"/>
              <a:t>Prescription → Lens Recommendation</a:t>
            </a:r>
          </a:p>
          <a:p>
            <a:pPr>
              <a:spcAft>
                <a:spcPts val="1200"/>
              </a:spcAft>
              <a:defRPr sz="1800">
                <a:solidFill>
                  <a:srgbClr val="142030"/>
                </a:solidFill>
                <a:latin typeface="Aptos"/>
              </a:defRPr>
            </a:pPr>
            <a:r>
              <a:rPr dirty="0"/>
              <a:t>Virtual Try-On → Frame Recommendation → History</a:t>
            </a:r>
          </a:p>
          <a:p>
            <a:pPr>
              <a:spcAft>
                <a:spcPts val="1200"/>
              </a:spcAft>
              <a:defRPr sz="1800">
                <a:solidFill>
                  <a:srgbClr val="142030"/>
                </a:solidFill>
                <a:latin typeface="Aptos"/>
              </a:defRPr>
            </a:pPr>
            <a:r>
              <a:rPr dirty="0"/>
              <a:t>Profile → Orders → Notifications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42030"/>
                </a:solidFill>
                <a:latin typeface="Aptos"/>
              </a:rPr>
              <a:t>UI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3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5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20825-0FBA-838F-4F84-229F74B147A6}"/>
              </a:ext>
            </a:extLst>
          </p:cNvPr>
          <p:cNvSpPr txBox="1"/>
          <p:nvPr/>
        </p:nvSpPr>
        <p:spPr>
          <a:xfrm>
            <a:off x="502920" y="937260"/>
            <a:ext cx="2554738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1)Landing Page:</a:t>
            </a:r>
          </a:p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Login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D01F60C-295D-397E-3C61-5F3A0E6F3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9811"/>
            <a:ext cx="11443915" cy="451992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67B3-70AD-E68D-5DE8-FBE90050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11C5C2-91DE-FC92-BF7E-FCAC8D085D00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72DEE-104F-12FA-8E6D-6A081821B345}"/>
              </a:ext>
            </a:extLst>
          </p:cNvPr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42030"/>
                </a:solidFill>
                <a:latin typeface="Aptos"/>
              </a:rPr>
              <a:t>UI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1E180-F4BF-E3E3-9358-627BE35ACB6A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3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6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9467AF-3849-D4A4-1F3E-5B15FD054D07}"/>
              </a:ext>
            </a:extLst>
          </p:cNvPr>
          <p:cNvSpPr txBox="1"/>
          <p:nvPr/>
        </p:nvSpPr>
        <p:spPr>
          <a:xfrm>
            <a:off x="502920" y="937260"/>
            <a:ext cx="2554738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1)Landing Page:</a:t>
            </a:r>
          </a:p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Sign Up</a:t>
            </a:r>
            <a:endParaRPr sz="2600" b="1" dirty="0">
              <a:solidFill>
                <a:srgbClr val="142030"/>
              </a:solidFill>
              <a:latin typeface="Apto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E0DF7-9A90-7E1E-BDDF-A0F88B4E1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9812"/>
            <a:ext cx="11414097" cy="443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00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EFE81-B449-5807-6AF9-B55ADBA21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5D2EB6-042F-E8F8-D9BE-B7C6581E908B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27D3C6-7931-8B67-EEFC-2E7C92E813CB}"/>
              </a:ext>
            </a:extLst>
          </p:cNvPr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42030"/>
                </a:solidFill>
                <a:latin typeface="Aptos"/>
              </a:rPr>
              <a:t>UI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AEB5B-6833-0E29-36B4-B01E9574B3FB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3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7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FD2F2D-C124-77C1-A948-A15A5E5B83B0}"/>
              </a:ext>
            </a:extLst>
          </p:cNvPr>
          <p:cNvSpPr txBox="1"/>
          <p:nvPr/>
        </p:nvSpPr>
        <p:spPr>
          <a:xfrm>
            <a:off x="502920" y="937260"/>
            <a:ext cx="6583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2)Customer Dashboard: products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18C7E2-3B7F-F0FC-A5CB-AA2740C33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9702"/>
            <a:ext cx="10972800" cy="519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858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3303B-9605-3108-E01A-B292704F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F1DE13-E87A-9693-E8FD-B9BC162076FA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09D17-413A-12E4-0759-ECEDC402F388}"/>
              </a:ext>
            </a:extLst>
          </p:cNvPr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42030"/>
                </a:solidFill>
                <a:latin typeface="Aptos"/>
              </a:rPr>
              <a:t>UI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B39E1-ECDD-0562-CD81-0ADDCCF9B369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3</a:t>
            </a:r>
            <a:r>
              <a:rPr lang="en-GB" sz="1100" dirty="0">
                <a:solidFill>
                  <a:srgbClr val="2263A5"/>
                </a:solidFill>
                <a:latin typeface="Aptos"/>
              </a:rPr>
              <a:t>8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FD5068-5DC9-20E4-523D-E3BC546FE89C}"/>
              </a:ext>
            </a:extLst>
          </p:cNvPr>
          <p:cNvSpPr txBox="1"/>
          <p:nvPr/>
        </p:nvSpPr>
        <p:spPr>
          <a:xfrm>
            <a:off x="512859" y="937260"/>
            <a:ext cx="6583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3)Cart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D242BE-CF94-0882-D082-9D93B7EAB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59" y="1429702"/>
            <a:ext cx="10890019" cy="5089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33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86411-01DC-B17C-6879-E691C0083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0A60BD-5905-A329-C477-24444C6FD778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8643EB-85A9-E9A1-18C1-E50099F357A7}"/>
              </a:ext>
            </a:extLst>
          </p:cNvPr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42030"/>
                </a:solidFill>
                <a:latin typeface="Aptos"/>
              </a:rPr>
              <a:t>UI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D1B11-F9C2-BBF8-1880-281CFC04E348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 dirty="0">
                <a:solidFill>
                  <a:srgbClr val="2263A5"/>
                </a:solidFill>
                <a:latin typeface="Aptos"/>
              </a:rPr>
              <a:t>3</a:t>
            </a:r>
            <a:r>
              <a:rPr lang="en-GB" sz="1100" b="0" dirty="0">
                <a:solidFill>
                  <a:srgbClr val="2263A5"/>
                </a:solidFill>
                <a:latin typeface="Aptos"/>
              </a:rPr>
              <a:t>9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62C52F-1974-D6A5-002C-8B99AE339346}"/>
              </a:ext>
            </a:extLst>
          </p:cNvPr>
          <p:cNvSpPr txBox="1"/>
          <p:nvPr/>
        </p:nvSpPr>
        <p:spPr>
          <a:xfrm>
            <a:off x="512859" y="937260"/>
            <a:ext cx="6583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3)Cart: checkout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8ED9D9-EA6F-5615-863F-20A0BC6FE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58" y="1429703"/>
            <a:ext cx="10962861" cy="517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855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C151-BA41-776F-647C-13D507B9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726CA-F6D3-A01B-3E2E-B802A7678BFB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4151B0-876A-8C9F-1CEF-EA316D913A2F}"/>
              </a:ext>
            </a:extLst>
          </p:cNvPr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42030"/>
                </a:solidFill>
                <a:latin typeface="Aptos"/>
              </a:rPr>
              <a:t>UI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8F2E3-AA79-71D3-4018-67AEE24F31D0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dirty="0">
                <a:solidFill>
                  <a:srgbClr val="2263A5"/>
                </a:solidFill>
                <a:latin typeface="Aptos"/>
              </a:rPr>
              <a:t>40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9704D0-67EB-F5B2-BB5E-1EAAEA52AD5D}"/>
              </a:ext>
            </a:extLst>
          </p:cNvPr>
          <p:cNvSpPr txBox="1"/>
          <p:nvPr/>
        </p:nvSpPr>
        <p:spPr>
          <a:xfrm>
            <a:off x="512859" y="937260"/>
            <a:ext cx="6583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4)prescriptions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699938-8DB7-93A8-9042-5ADEF7895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58" y="1429702"/>
            <a:ext cx="10962861" cy="522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561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F8D4F-825C-BE01-CB57-BD652B6D4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C81F8F-8126-1B2E-F2A3-D72CC6B2D6C2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dirty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E6F38-6679-4E7A-316B-D558D1D6F2CA}"/>
              </a:ext>
            </a:extLst>
          </p:cNvPr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dirty="0">
                <a:solidFill>
                  <a:srgbClr val="142030"/>
                </a:solidFill>
                <a:latin typeface="Aptos"/>
              </a:rPr>
              <a:t>UI Prototype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00979-35B1-0520-3C8C-9F46F8F9F3BC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dirty="0">
                <a:solidFill>
                  <a:srgbClr val="2263A5"/>
                </a:solidFill>
                <a:latin typeface="Aptos"/>
              </a:rPr>
              <a:t>41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75A01C-A237-5BFD-CDAD-867986DB69B4}"/>
              </a:ext>
            </a:extLst>
          </p:cNvPr>
          <p:cNvSpPr txBox="1"/>
          <p:nvPr/>
        </p:nvSpPr>
        <p:spPr>
          <a:xfrm>
            <a:off x="512859" y="937260"/>
            <a:ext cx="65836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>
                <a:solidFill>
                  <a:srgbClr val="142030"/>
                </a:solidFill>
                <a:latin typeface="Aptos"/>
              </a:rPr>
              <a:t>5)</a:t>
            </a:r>
            <a:r>
              <a:rPr lang="en-US" sz="2600" b="1" dirty="0" err="1">
                <a:solidFill>
                  <a:srgbClr val="142030"/>
                </a:solidFill>
                <a:latin typeface="Aptos"/>
              </a:rPr>
              <a:t>Virtul</a:t>
            </a:r>
            <a:r>
              <a:rPr lang="en-US" sz="2600" b="1" dirty="0">
                <a:solidFill>
                  <a:srgbClr val="142030"/>
                </a:solidFill>
                <a:latin typeface="Aptos"/>
              </a:rPr>
              <a:t> try 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0B3A38-77D4-550F-6FA8-588F2DC2C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1" y="1429703"/>
            <a:ext cx="11054720" cy="519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543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0"/>
                </a:solidFill>
                <a:latin typeface="Aptos"/>
              </a:rPr>
              <a:t>Module Planning &amp; Architecture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2964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42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3591111" cy="24314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2030"/>
                </a:solidFill>
                <a:latin typeface="Aptos"/>
              </a:defRPr>
            </a:pPr>
            <a:r>
              <a:rPr dirty="0"/>
              <a:t>1. </a:t>
            </a:r>
            <a:r>
              <a:rPr lang="en-US" dirty="0"/>
              <a:t>Identity &amp; Authentication (RBAC)</a:t>
            </a:r>
            <a:endParaRPr dirty="0"/>
          </a:p>
          <a:p>
            <a:pPr>
              <a:spcAft>
                <a:spcPts val="1200"/>
              </a:spcAft>
              <a:defRPr sz="1700">
                <a:solidFill>
                  <a:srgbClr val="142030"/>
                </a:solidFill>
                <a:latin typeface="Aptos"/>
              </a:defRPr>
            </a:pPr>
            <a:r>
              <a:rPr dirty="0"/>
              <a:t>2. </a:t>
            </a:r>
            <a:r>
              <a:rPr lang="en-US" dirty="0"/>
              <a:t>Customer CRM &amp; Clinical Eye Test</a:t>
            </a:r>
            <a:endParaRPr dirty="0"/>
          </a:p>
          <a:p>
            <a:pPr>
              <a:spcAft>
                <a:spcPts val="1200"/>
              </a:spcAft>
              <a:defRPr sz="1700">
                <a:solidFill>
                  <a:srgbClr val="142030"/>
                </a:solidFill>
                <a:latin typeface="Aptos"/>
              </a:defRPr>
            </a:pPr>
            <a:r>
              <a:rPr dirty="0"/>
              <a:t>3. </a:t>
            </a:r>
            <a:r>
              <a:rPr lang="en-US" dirty="0"/>
              <a:t>AI Vision &amp; Virtual Try-On</a:t>
            </a:r>
            <a:endParaRPr dirty="0"/>
          </a:p>
          <a:p>
            <a:pPr>
              <a:spcAft>
                <a:spcPts val="1200"/>
              </a:spcAft>
              <a:defRPr sz="1700">
                <a:solidFill>
                  <a:srgbClr val="142030"/>
                </a:solidFill>
                <a:latin typeface="Aptos"/>
              </a:defRPr>
            </a:pPr>
            <a:r>
              <a:rPr dirty="0"/>
              <a:t>4. </a:t>
            </a:r>
            <a:r>
              <a:rPr lang="en-US" dirty="0"/>
              <a:t>Order &amp; Inventory Management</a:t>
            </a:r>
            <a:endParaRPr dirty="0"/>
          </a:p>
          <a:p>
            <a:pPr>
              <a:spcAft>
                <a:spcPts val="1200"/>
              </a:spcAft>
              <a:defRPr sz="1700">
                <a:solidFill>
                  <a:srgbClr val="142030"/>
                </a:solidFill>
                <a:latin typeface="Aptos"/>
              </a:defRPr>
            </a:pPr>
            <a:r>
              <a:rPr dirty="0"/>
              <a:t>5. </a:t>
            </a:r>
            <a:r>
              <a:rPr lang="en-US" dirty="0"/>
              <a:t>Billing &amp; GST Invoicing</a:t>
            </a:r>
            <a:endParaRPr dirty="0"/>
          </a:p>
          <a:p>
            <a:pPr>
              <a:spcAft>
                <a:spcPts val="1200"/>
              </a:spcAft>
              <a:defRPr sz="1700">
                <a:solidFill>
                  <a:srgbClr val="142030"/>
                </a:solidFill>
                <a:latin typeface="Aptos"/>
              </a:defRPr>
            </a:pPr>
            <a:r>
              <a:rPr dirty="0"/>
              <a:t>6. </a:t>
            </a:r>
            <a:r>
              <a:rPr lang="en-US" dirty="0"/>
              <a:t>Analytics &amp; Financial Reporting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0"/>
                </a:solidFill>
                <a:latin typeface="Aptos"/>
              </a:rPr>
              <a:t>System Modules &amp; Responsibilities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43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43071A-29ED-73C3-552E-1492A69AD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669793"/>
              </p:ext>
            </p:extLst>
          </p:nvPr>
        </p:nvGraphicFramePr>
        <p:xfrm>
          <a:off x="716281" y="1047688"/>
          <a:ext cx="10125891" cy="5697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5297">
                  <a:extLst>
                    <a:ext uri="{9D8B030D-6E8A-4147-A177-3AD203B41FA5}">
                      <a16:colId xmlns:a16="http://schemas.microsoft.com/office/drawing/2014/main" val="4014889085"/>
                    </a:ext>
                  </a:extLst>
                </a:gridCol>
                <a:gridCol w="3375297">
                  <a:extLst>
                    <a:ext uri="{9D8B030D-6E8A-4147-A177-3AD203B41FA5}">
                      <a16:colId xmlns:a16="http://schemas.microsoft.com/office/drawing/2014/main" val="3749643690"/>
                    </a:ext>
                  </a:extLst>
                </a:gridCol>
                <a:gridCol w="3375297">
                  <a:extLst>
                    <a:ext uri="{9D8B030D-6E8A-4147-A177-3AD203B41FA5}">
                      <a16:colId xmlns:a16="http://schemas.microsoft.com/office/drawing/2014/main" val="1694200339"/>
                    </a:ext>
                  </a:extLst>
                </a:gridCol>
              </a:tblGrid>
              <a:tr h="353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Module Name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Core Responsibilities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Key Code Components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888434"/>
                  </a:ext>
                </a:extLst>
              </a:tr>
              <a:tr h="78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1. Identity &amp; Authentication (RBAC)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Handles user registration, password security, JWT session validation, and role-based access for Customer, Optometrist, and Admin/Seller.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auth_routes.py</a:t>
                      </a:r>
                      <a:br>
                        <a:rPr lang="en-US" sz="1200"/>
                      </a:br>
                      <a:r>
                        <a:rPr lang="en-US" sz="1200">
                          <a:latin typeface="Courier New" panose="02070309020205020404" pitchFamily="49" charset="0"/>
                        </a:rPr>
                        <a:t>auth_utils.py</a:t>
                      </a:r>
                      <a:br>
                        <a:rPr lang="en-US" sz="1200"/>
                      </a:br>
                      <a:r>
                        <a:rPr lang="en-US" sz="1200"/>
                        <a:t>User model (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models.py</a:t>
                      </a:r>
                      <a:r>
                        <a:rPr lang="en-US" sz="1200"/>
                        <a:t>)</a:t>
                      </a:r>
                      <a:br>
                        <a:rPr lang="en-US" sz="1200"/>
                      </a:br>
                      <a:r>
                        <a:rPr lang="en-US" sz="1200">
                          <a:latin typeface="Courier New" panose="02070309020205020404" pitchFamily="49" charset="0"/>
                        </a:rPr>
                        <a:t>login.html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signup.html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991384"/>
                  </a:ext>
                </a:extLst>
              </a:tr>
              <a:tr h="958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2. Customer CRM &amp; Clinical Eye Test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Manages customer profiles, eye-test/prescription data, patient history, appointments, and optometrist approval.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customer_routes.py</a:t>
                      </a:r>
                      <a:br>
                        <a:rPr lang="en-US" sz="1200"/>
                      </a:br>
                      <a:r>
                        <a:rPr lang="en-US" sz="1200">
                          <a:latin typeface="Courier New" panose="02070309020205020404" pitchFamily="49" charset="0"/>
                        </a:rPr>
                        <a:t>appointment_routes.py</a:t>
                      </a:r>
                      <a:br>
                        <a:rPr lang="en-US" sz="1200"/>
                      </a:br>
                      <a:r>
                        <a:rPr lang="en-US" sz="1200"/>
                        <a:t>CustomerProfile, EyeTest, Appointment models</a:t>
                      </a:r>
                      <a:br>
                        <a:rPr lang="en-US" sz="1200"/>
                      </a:br>
                      <a:r>
                        <a:rPr lang="en-US" sz="1200">
                          <a:latin typeface="Courier New" panose="02070309020205020404" pitchFamily="49" charset="0"/>
                        </a:rPr>
                        <a:t>profile.html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eye-test.html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334029"/>
                  </a:ext>
                </a:extLst>
              </a:tr>
              <a:tr h="1132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3. AI Vision &amp; Virtual Try-On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Provides AI prescription OCR, face-shape analysis, facial landmark detection, and virtual frame try-on using camera/image processing.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ai_routes.py</a:t>
                      </a:r>
                      <a:br>
                        <a:rPr lang="en-US" sz="1200"/>
                      </a:br>
                      <a:r>
                        <a:rPr lang="en-US" sz="1200">
                          <a:latin typeface="Courier New" panose="02070309020205020404" pitchFamily="49" charset="0"/>
                        </a:rPr>
                        <a:t>virtual_tryon_routes.py</a:t>
                      </a:r>
                      <a:br>
                        <a:rPr lang="en-US" sz="1200"/>
                      </a:br>
                      <a:r>
                        <a:rPr lang="en-US" sz="1200"/>
                        <a:t>GeminiAI OCR &amp; MediaPipe VTO services</a:t>
                      </a:r>
                      <a:br>
                        <a:rPr lang="en-US" sz="1200"/>
                      </a:br>
                      <a:r>
                        <a:rPr lang="en-US" sz="1200">
                          <a:latin typeface="Courier New" panose="02070309020205020404" pitchFamily="49" charset="0"/>
                        </a:rPr>
                        <a:t>face_analysis.py</a:t>
                      </a:r>
                      <a:br>
                        <a:rPr lang="en-US" sz="1200"/>
                      </a:br>
                      <a:r>
                        <a:rPr lang="en-US" sz="1200">
                          <a:latin typeface="Courier New" panose="02070309020205020404" pitchFamily="49" charset="0"/>
                        </a:rPr>
                        <a:t>ai-suite.html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9865831"/>
                  </a:ext>
                </a:extLst>
              </a:tr>
              <a:tr h="78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4. Order &amp; Inventory Management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Manages frames, lenses, and coatings, synchronizes online and retail inventory, and tracks orders from pending to delivery.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inventory_routes.py</a:t>
                      </a:r>
                      <a:br>
                        <a:rPr lang="en-US" sz="1200"/>
                      </a:br>
                      <a:r>
                        <a:rPr lang="en-US" sz="1200">
                          <a:latin typeface="Courier New" panose="02070309020205020404" pitchFamily="49" charset="0"/>
                        </a:rPr>
                        <a:t>order_routes.py</a:t>
                      </a:r>
                      <a:br>
                        <a:rPr lang="en-US" sz="1200"/>
                      </a:br>
                      <a:r>
                        <a:rPr lang="en-US" sz="1200"/>
                        <a:t>Frame, Lens, Order, OrderItem models</a:t>
                      </a:r>
                      <a:br>
                        <a:rPr lang="en-US" sz="1200"/>
                      </a:br>
                      <a:r>
                        <a:rPr lang="en-US" sz="1200">
                          <a:latin typeface="Courier New" panose="02070309020205020404" pitchFamily="49" charset="0"/>
                        </a:rPr>
                        <a:t>products.html</a:t>
                      </a:r>
                      <a:r>
                        <a:rPr lang="en-US" sz="1200"/>
                        <a:t>,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checkout.html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9755221"/>
                  </a:ext>
                </a:extLst>
              </a:tr>
              <a:tr h="78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5. Billing &amp; GST Invoicing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Calculates GST, records payments, integrates payment gateways, and generates PDF tax invoices with QR codes.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ourier New" panose="02070309020205020404" pitchFamily="49" charset="0"/>
                        </a:rPr>
                        <a:t>billing_routes.py</a:t>
                      </a:r>
                      <a:br>
                        <a:rPr lang="en-US" sz="1200" dirty="0"/>
                      </a:br>
                      <a:r>
                        <a:rPr lang="en-US" sz="1200" dirty="0">
                          <a:latin typeface="Courier New" panose="02070309020205020404" pitchFamily="49" charset="0"/>
                        </a:rPr>
                        <a:t>pdf_generator.py</a:t>
                      </a:r>
                      <a:br>
                        <a:rPr lang="en-US" sz="1200" dirty="0"/>
                      </a:br>
                      <a:r>
                        <a:rPr lang="en-US" sz="1200" dirty="0" err="1"/>
                        <a:t>BillingInvoice</a:t>
                      </a:r>
                      <a:r>
                        <a:rPr lang="en-US" sz="1200" dirty="0"/>
                        <a:t> model (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models.py</a:t>
                      </a:r>
                      <a:r>
                        <a:rPr lang="en-US" sz="1200" dirty="0"/>
                        <a:t>)</a:t>
                      </a:r>
                      <a:br>
                        <a:rPr lang="en-US" sz="1200" dirty="0"/>
                      </a:br>
                      <a:r>
                        <a:rPr lang="en-US" sz="1200" dirty="0">
                          <a:latin typeface="Courier New" panose="02070309020205020404" pitchFamily="49" charset="0"/>
                        </a:rPr>
                        <a:t>payment-history.html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195791"/>
                  </a:ext>
                </a:extLst>
              </a:tr>
              <a:tr h="7842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6. Analytics &amp; Financial Reporting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Provides sales and revenue analysis, profit insights, top-brand/product statistics, inventory audits, and optometrist performance tracking.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Courier New" panose="02070309020205020404" pitchFamily="49" charset="0"/>
                        </a:rPr>
                        <a:t>reports_routes.py</a:t>
                      </a:r>
                      <a:br>
                        <a:rPr lang="en-US" sz="1200" dirty="0"/>
                      </a:br>
                      <a:r>
                        <a:rPr lang="en-US" sz="1200" dirty="0" err="1"/>
                        <a:t>AnalyticsReportService</a:t>
                      </a:r>
                      <a:br>
                        <a:rPr lang="en-US" sz="1200" dirty="0"/>
                      </a:br>
                      <a:r>
                        <a:rPr lang="en-US" sz="1200" dirty="0">
                          <a:latin typeface="Courier New" panose="02070309020205020404" pitchFamily="49" charset="0"/>
                        </a:rPr>
                        <a:t>dashboard.html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84828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93AE-127B-0AB4-5673-400FE719A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590BB8-1F36-7AC0-0012-E19E01216F56}"/>
              </a:ext>
            </a:extLst>
          </p:cNvPr>
          <p:cNvSpPr/>
          <p:nvPr/>
        </p:nvSpPr>
        <p:spPr>
          <a:xfrm>
            <a:off x="0" y="-18662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13C86-EEC7-B3E4-0ECC-A10AF3F7B809}"/>
              </a:ext>
            </a:extLst>
          </p:cNvPr>
          <p:cNvSpPr txBox="1"/>
          <p:nvPr/>
        </p:nvSpPr>
        <p:spPr>
          <a:xfrm>
            <a:off x="502920" y="2286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2263A5"/>
                </a:solidFill>
                <a:latin typeface="Aptos"/>
              </a:rPr>
              <a:t>Minor Project 2nd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771B70-3AB8-8F6D-BFCB-4D5BFC21EB23}"/>
              </a:ext>
            </a:extLst>
          </p:cNvPr>
          <p:cNvSpPr txBox="1"/>
          <p:nvPr/>
        </p:nvSpPr>
        <p:spPr>
          <a:xfrm>
            <a:off x="502920" y="564967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0"/>
                </a:solidFill>
                <a:latin typeface="Aptos"/>
              </a:rPr>
              <a:t>System Modules &amp; Responsibilities Matrix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2BF61B-7E53-60FA-14C4-72F9263D0078}"/>
              </a:ext>
            </a:extLst>
          </p:cNvPr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44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6D62796-E869-6859-68AD-E5FCE1375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691" y="1015869"/>
            <a:ext cx="7576457" cy="577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428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142030"/>
                </a:solidFill>
                <a:latin typeface="Aptos"/>
              </a:rPr>
              <a:t>Thank You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2263A5"/>
                </a:solidFill>
                <a:latin typeface="Aptos"/>
              </a:rPr>
              <a:t>VisionEdge — AI-Powered Optical Store Management &amp; Virtual Try-On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06132" y="6400800"/>
            <a:ext cx="33534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GB" sz="1100" b="0" dirty="0">
                <a:solidFill>
                  <a:srgbClr val="2263A5"/>
                </a:solidFill>
                <a:latin typeface="Aptos"/>
              </a:rPr>
              <a:t>45</a:t>
            </a:r>
            <a:endParaRPr sz="1100" b="0" dirty="0">
              <a:solidFill>
                <a:srgbClr val="2263A5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</TotalTime>
  <Words>2997</Words>
  <Application>Microsoft Office PowerPoint</Application>
  <PresentationFormat>Widescreen</PresentationFormat>
  <Paragraphs>1141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RAVAL UMANG</cp:lastModifiedBy>
  <cp:revision>17</cp:revision>
  <dcterms:created xsi:type="dcterms:W3CDTF">2013-01-27T09:14:16Z</dcterms:created>
  <dcterms:modified xsi:type="dcterms:W3CDTF">2026-08-25T06:18:05Z</dcterms:modified>
  <cp:category/>
</cp:coreProperties>
</file>